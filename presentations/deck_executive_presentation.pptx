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64" r:id="rId10"/>
    <p:sldId id="265" r:id="rId11"/>
    <p:sldId id="270" r:id="rId12"/>
  </p:sldIdLst>
  <p:sldSz cx="14630400" cy="8229600"/>
  <p:notesSz cx="8229600" cy="14630400"/>
  <p:embeddedFontLst>
    <p:embeddedFont>
      <p:font typeface="Instrument Sans Medium" pitchFamily="2" charset="0"/>
      <p:regular r:id="rId14"/>
    </p:embeddedFont>
    <p:embeddedFont>
      <p:font typeface="Instrument Sans Semi Bold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EE6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72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ABF75B-AF42-3147-8F70-8C4D356246CB}" type="doc">
      <dgm:prSet loTypeId="urn:microsoft.com/office/officeart/2005/8/layout/vList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AACD577-DFC8-A842-9ADB-87C5F1DA7052}">
      <dgm:prSet phldrT="[Text]" custT="1"/>
      <dgm:spPr>
        <a:solidFill>
          <a:srgbClr val="CEE6FE"/>
        </a:solidFill>
      </dgm:spPr>
      <dgm:t>
        <a:bodyPr/>
        <a:lstStyle/>
        <a:p>
          <a:pPr>
            <a:buNone/>
          </a:pPr>
          <a:r>
            <a:rPr lang="en-US" sz="2000" b="1" dirty="0">
              <a:solidFill>
                <a:srgbClr val="002060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rPr>
            <a:t>Apply Bias Corrections — FOODS_1 and FOODS_2</a:t>
          </a:r>
          <a:endParaRPr lang="en-US" sz="2000" b="1" dirty="0">
            <a:solidFill>
              <a:srgbClr val="002060"/>
            </a:solidFill>
          </a:endParaRPr>
        </a:p>
      </dgm:t>
    </dgm:pt>
    <dgm:pt modelId="{C8415AD4-8894-D544-BDD8-59F8430B4812}" type="parTrans" cxnId="{D2176044-DE2C-F84A-BD2C-F682F76EDA3D}">
      <dgm:prSet/>
      <dgm:spPr/>
      <dgm:t>
        <a:bodyPr/>
        <a:lstStyle/>
        <a:p>
          <a:endParaRPr lang="en-US"/>
        </a:p>
      </dgm:t>
    </dgm:pt>
    <dgm:pt modelId="{6A25BAB1-C9A0-094C-91FC-882C010BE6FF}" type="sibTrans" cxnId="{D2176044-DE2C-F84A-BD2C-F682F76EDA3D}">
      <dgm:prSet/>
      <dgm:spPr/>
      <dgm:t>
        <a:bodyPr/>
        <a:lstStyle/>
        <a:p>
          <a:endParaRPr lang="en-US"/>
        </a:p>
      </dgm:t>
    </dgm:pt>
    <dgm:pt modelId="{0D6AC8A7-D06E-7A48-A241-7D31F0353C4F}">
      <dgm:prSet phldrT="[Text]" custT="1"/>
      <dgm:spPr/>
      <dgm:t>
        <a:bodyPr/>
        <a:lstStyle/>
        <a:p>
          <a:pPr>
            <a:buNone/>
          </a:pPr>
          <a:r>
            <a:rPr lang="en-US" sz="1600" kern="12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rPr>
            <a:t>Both departments consistently under-estimate demand. Add +9 units/day to FOODS_1 and +14 units/day to FOODS_2 demand signals before using them as supply plan input. These are systematic gaps, not noise.</a:t>
          </a:r>
        </a:p>
      </dgm:t>
    </dgm:pt>
    <dgm:pt modelId="{62C1BA7B-522F-AE4E-8E33-9FC4A744D47C}" type="parTrans" cxnId="{04D03B41-45EA-524B-B390-0B118320BFB6}">
      <dgm:prSet/>
      <dgm:spPr/>
      <dgm:t>
        <a:bodyPr/>
        <a:lstStyle/>
        <a:p>
          <a:endParaRPr lang="en-US"/>
        </a:p>
      </dgm:t>
    </dgm:pt>
    <dgm:pt modelId="{F134DEA7-5493-E849-A440-A53B962D7479}" type="sibTrans" cxnId="{04D03B41-45EA-524B-B390-0B118320BFB6}">
      <dgm:prSet/>
      <dgm:spPr/>
      <dgm:t>
        <a:bodyPr/>
        <a:lstStyle/>
        <a:p>
          <a:endParaRPr lang="en-US"/>
        </a:p>
      </dgm:t>
    </dgm:pt>
    <dgm:pt modelId="{A188C5CA-D4E2-3B47-83CF-691B64965798}">
      <dgm:prSet phldrT="[Text]" custT="1"/>
      <dgm:spPr>
        <a:solidFill>
          <a:srgbClr val="CEE6FE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rPr>
            <a:t>Apply Saturday Uplift — FOODS_1</a:t>
          </a:r>
        </a:p>
      </dgm:t>
    </dgm:pt>
    <dgm:pt modelId="{4CC5062D-A7C3-9542-AD8C-21158D2F9286}" type="parTrans" cxnId="{CEC0D212-B86B-8D48-A5C5-8C16D520C66C}">
      <dgm:prSet/>
      <dgm:spPr/>
      <dgm:t>
        <a:bodyPr/>
        <a:lstStyle/>
        <a:p>
          <a:endParaRPr lang="en-US"/>
        </a:p>
      </dgm:t>
    </dgm:pt>
    <dgm:pt modelId="{907D34CB-90AC-FF4E-9C45-880526FA2233}" type="sibTrans" cxnId="{CEC0D212-B86B-8D48-A5C5-8C16D520C66C}">
      <dgm:prSet/>
      <dgm:spPr/>
      <dgm:t>
        <a:bodyPr/>
        <a:lstStyle/>
        <a:p>
          <a:endParaRPr lang="en-US"/>
        </a:p>
      </dgm:t>
    </dgm:pt>
    <dgm:pt modelId="{17E4AB15-309A-4A44-8375-188076681189}">
      <dgm:prSet phldrT="[Text]"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600" kern="12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rPr>
            <a:t>The model under-estimates every Saturday for FOODS_1 by 8.1%. Apply a fixed weekend uplift factor to the Saturday demand signal before cross-checking with inventory.</a:t>
          </a:r>
        </a:p>
      </dgm:t>
    </dgm:pt>
    <dgm:pt modelId="{29F23AD6-DAD4-5D4F-8720-BA42C822EB16}" type="parTrans" cxnId="{807AD65C-07E4-344F-AEA1-A5C877759603}">
      <dgm:prSet/>
      <dgm:spPr/>
      <dgm:t>
        <a:bodyPr/>
        <a:lstStyle/>
        <a:p>
          <a:endParaRPr lang="en-US"/>
        </a:p>
      </dgm:t>
    </dgm:pt>
    <dgm:pt modelId="{00F5E708-554E-994B-B64A-5A429EACD0E9}" type="sibTrans" cxnId="{807AD65C-07E4-344F-AEA1-A5C877759603}">
      <dgm:prSet/>
      <dgm:spPr/>
      <dgm:t>
        <a:bodyPr/>
        <a:lstStyle/>
        <a:p>
          <a:endParaRPr lang="en-US"/>
        </a:p>
      </dgm:t>
    </dgm:pt>
    <dgm:pt modelId="{0C04B0B6-11F1-3244-9BBD-61060BEC3FAA}">
      <dgm:prSet phldrT="[Text]" custT="1"/>
      <dgm:spPr>
        <a:solidFill>
          <a:srgbClr val="CEE6FE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rPr>
            <a:t>Override FOODS_3 Event Day Forecasts Before Supply Planning</a:t>
          </a:r>
        </a:p>
      </dgm:t>
    </dgm:pt>
    <dgm:pt modelId="{B6FCC0B1-69F1-3945-A29F-AD19FB323482}" type="parTrans" cxnId="{D2E8F760-021D-A746-AA5D-3C7010140F79}">
      <dgm:prSet/>
      <dgm:spPr/>
      <dgm:t>
        <a:bodyPr/>
        <a:lstStyle/>
        <a:p>
          <a:endParaRPr lang="en-US"/>
        </a:p>
      </dgm:t>
    </dgm:pt>
    <dgm:pt modelId="{67B4F3F5-7549-024B-8957-06C839B1B3D0}" type="sibTrans" cxnId="{D2E8F760-021D-A746-AA5D-3C7010140F79}">
      <dgm:prSet/>
      <dgm:spPr/>
      <dgm:t>
        <a:bodyPr/>
        <a:lstStyle/>
        <a:p>
          <a:endParaRPr lang="en-US"/>
        </a:p>
      </dgm:t>
    </dgm:pt>
    <dgm:pt modelId="{6936DB23-1259-DE45-A2A0-F2ACD9B8433E}">
      <dgm:prSet phldrT="[Text]" custT="1"/>
      <dgm:spPr>
        <a:noFill/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600" kern="12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rPr>
            <a:t>Event day demand signal for FOODS_3 is unreliable (673% average error). On any week containing a confirmed event, the FOODS_3 signal must be manually reviewed and adjusted by the demand planner before use in supply planning.</a:t>
          </a:r>
        </a:p>
      </dgm:t>
    </dgm:pt>
    <dgm:pt modelId="{95B8EF8B-4A4C-6446-921E-8A5415E8880B}" type="parTrans" cxnId="{ED56F36A-DAEC-8745-A92A-A06CC27AB7D3}">
      <dgm:prSet/>
      <dgm:spPr/>
      <dgm:t>
        <a:bodyPr/>
        <a:lstStyle/>
        <a:p>
          <a:endParaRPr lang="en-US"/>
        </a:p>
      </dgm:t>
    </dgm:pt>
    <dgm:pt modelId="{C8FA8667-1310-714A-97BE-11A5FA609FFE}" type="sibTrans" cxnId="{ED56F36A-DAEC-8745-A92A-A06CC27AB7D3}">
      <dgm:prSet/>
      <dgm:spPr/>
      <dgm:t>
        <a:bodyPr/>
        <a:lstStyle/>
        <a:p>
          <a:endParaRPr lang="en-US"/>
        </a:p>
      </dgm:t>
    </dgm:pt>
    <dgm:pt modelId="{C353FC22-641B-734F-9383-73907D44D44D}">
      <dgm:prSet phldrT="[Text]" custT="1"/>
      <dgm:spPr>
        <a:solidFill>
          <a:srgbClr val="CEE6FE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rPr>
            <a:t>Flag FOODS_3 Friday Demand Signals</a:t>
          </a:r>
        </a:p>
      </dgm:t>
    </dgm:pt>
    <dgm:pt modelId="{99E15C9A-D378-604C-BFD6-C327A957A4C2}" type="parTrans" cxnId="{B0FFB082-1417-0B45-81BA-82417EA16F8A}">
      <dgm:prSet/>
      <dgm:spPr/>
      <dgm:t>
        <a:bodyPr/>
        <a:lstStyle/>
        <a:p>
          <a:endParaRPr lang="en-US"/>
        </a:p>
      </dgm:t>
    </dgm:pt>
    <dgm:pt modelId="{ADB10A52-B103-114D-A002-AD3ADFB3A4E7}" type="sibTrans" cxnId="{B0FFB082-1417-0B45-81BA-82417EA16F8A}">
      <dgm:prSet/>
      <dgm:spPr/>
      <dgm:t>
        <a:bodyPr/>
        <a:lstStyle/>
        <a:p>
          <a:endParaRPr lang="en-US"/>
        </a:p>
      </dgm:t>
    </dgm:pt>
    <dgm:pt modelId="{A1A1D85B-86BF-D04C-AA04-48BCD6C7177E}">
      <dgm:prSet phldrT="[Text]" custT="1"/>
      <dgm:spPr>
        <a:noFill/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anchor="ctr" anchorCtr="0"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600" kern="12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rPr>
            <a:t>Friday demand signal for FOODS_3 shows 363% average error. Flag for mandatory planner sign-off before any Friday-driven supply plan is released.</a:t>
          </a:r>
        </a:p>
      </dgm:t>
    </dgm:pt>
    <dgm:pt modelId="{D705F3F7-F920-C746-8E33-30845162662F}" type="parTrans" cxnId="{B1E741A9-EE3F-A340-9020-4834ED6250A2}">
      <dgm:prSet/>
      <dgm:spPr/>
      <dgm:t>
        <a:bodyPr/>
        <a:lstStyle/>
        <a:p>
          <a:endParaRPr lang="en-US"/>
        </a:p>
      </dgm:t>
    </dgm:pt>
    <dgm:pt modelId="{57A35FE5-15DC-2D47-B949-7652AC097E9B}" type="sibTrans" cxnId="{B1E741A9-EE3F-A340-9020-4834ED6250A2}">
      <dgm:prSet/>
      <dgm:spPr/>
      <dgm:t>
        <a:bodyPr/>
        <a:lstStyle/>
        <a:p>
          <a:endParaRPr lang="en-US"/>
        </a:p>
      </dgm:t>
    </dgm:pt>
    <dgm:pt modelId="{9FB2D262-A644-C749-819B-9C0742D63587}">
      <dgm:prSet phldrT="[Text]" custT="1"/>
      <dgm:spPr>
        <a:solidFill>
          <a:srgbClr val="CEE6FE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/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rPr>
            <a:t>Design SKU-Level Demand Split for Ordering</a:t>
          </a:r>
        </a:p>
      </dgm:t>
    </dgm:pt>
    <dgm:pt modelId="{BBF72F5A-0CF6-5743-A148-3E7C444797EA}" type="parTrans" cxnId="{45EF8661-8B53-C94A-A55F-3996CE443F7C}">
      <dgm:prSet/>
      <dgm:spPr/>
      <dgm:t>
        <a:bodyPr/>
        <a:lstStyle/>
        <a:p>
          <a:endParaRPr lang="en-US"/>
        </a:p>
      </dgm:t>
    </dgm:pt>
    <dgm:pt modelId="{F3E9B981-1E16-8A4C-9864-A9C38CE9AC91}" type="sibTrans" cxnId="{45EF8661-8B53-C94A-A55F-3996CE443F7C}">
      <dgm:prSet/>
      <dgm:spPr/>
      <dgm:t>
        <a:bodyPr/>
        <a:lstStyle/>
        <a:p>
          <a:endParaRPr lang="en-US"/>
        </a:p>
      </dgm:t>
    </dgm:pt>
    <dgm:pt modelId="{E125946C-6FB5-2A46-85CA-C1C54F72C222}">
      <dgm:prSet phldrT="[Text]" custT="1"/>
      <dgm:spPr>
        <a:noFill/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600" kern="12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rPr>
            <a:t>The signal covers department totals. Before translating to a purchase order, split using each item's daily contribution % (3–6 months rolling). Phase-in items inherit the outgoing item's contribution. New items use analogue from a similar active product.</a:t>
          </a:r>
        </a:p>
      </dgm:t>
    </dgm:pt>
    <dgm:pt modelId="{A34FB95B-C181-FD47-A0E8-F574C017A488}" type="parTrans" cxnId="{B09175C5-5B8F-1149-8CD9-34712AB413FF}">
      <dgm:prSet/>
      <dgm:spPr/>
      <dgm:t>
        <a:bodyPr/>
        <a:lstStyle/>
        <a:p>
          <a:endParaRPr lang="en-US"/>
        </a:p>
      </dgm:t>
    </dgm:pt>
    <dgm:pt modelId="{DBE455C6-A5C3-A74F-AC21-1DE2668F6994}" type="sibTrans" cxnId="{B09175C5-5B8F-1149-8CD9-34712AB413FF}">
      <dgm:prSet/>
      <dgm:spPr/>
      <dgm:t>
        <a:bodyPr/>
        <a:lstStyle/>
        <a:p>
          <a:endParaRPr lang="en-US"/>
        </a:p>
      </dgm:t>
    </dgm:pt>
    <dgm:pt modelId="{ABC380DE-D1AE-944D-8CC7-2C9D78E54C59}" type="pres">
      <dgm:prSet presAssocID="{8EABF75B-AF42-3147-8F70-8C4D356246CB}" presName="linear" presStyleCnt="0">
        <dgm:presLayoutVars>
          <dgm:animLvl val="lvl"/>
          <dgm:resizeHandles val="exact"/>
        </dgm:presLayoutVars>
      </dgm:prSet>
      <dgm:spPr/>
    </dgm:pt>
    <dgm:pt modelId="{6F1C5274-9C48-3448-A475-C99DDF47A3B9}" type="pres">
      <dgm:prSet presAssocID="{BAACD577-DFC8-A842-9ADB-87C5F1DA7052}" presName="parentText" presStyleLbl="node1" presStyleIdx="0" presStyleCnt="5" custScaleY="35350" custLinFactNeighborY="-1041">
        <dgm:presLayoutVars>
          <dgm:chMax val="0"/>
          <dgm:bulletEnabled val="1"/>
        </dgm:presLayoutVars>
      </dgm:prSet>
      <dgm:spPr/>
    </dgm:pt>
    <dgm:pt modelId="{E5400DB1-B800-EE4A-A841-6E71FF612691}" type="pres">
      <dgm:prSet presAssocID="{BAACD577-DFC8-A842-9ADB-87C5F1DA7052}" presName="childText" presStyleLbl="revTx" presStyleIdx="0" presStyleCnt="5" custScaleY="68407">
        <dgm:presLayoutVars>
          <dgm:bulletEnabled val="1"/>
        </dgm:presLayoutVars>
      </dgm:prSet>
      <dgm:spPr/>
    </dgm:pt>
    <dgm:pt modelId="{35464804-3964-3A4D-BAA1-AE27F0BFB1E0}" type="pres">
      <dgm:prSet presAssocID="{A188C5CA-D4E2-3B47-83CF-691B64965798}" presName="parentText" presStyleLbl="node1" presStyleIdx="1" presStyleCnt="5" custScaleY="35274">
        <dgm:presLayoutVars>
          <dgm:chMax val="0"/>
          <dgm:bulletEnabled val="1"/>
        </dgm:presLayoutVars>
      </dgm:prSet>
      <dgm:spPr>
        <a:xfrm>
          <a:off x="0" y="2475981"/>
          <a:ext cx="9753600" cy="2585700"/>
        </a:xfrm>
        <a:prstGeom prst="roundRect">
          <a:avLst/>
        </a:prstGeom>
      </dgm:spPr>
    </dgm:pt>
    <dgm:pt modelId="{627A6CBF-AEF6-FC4E-8E61-C9CA17C48911}" type="pres">
      <dgm:prSet presAssocID="{A188C5CA-D4E2-3B47-83CF-691B64965798}" presName="childText" presStyleLbl="revTx" presStyleIdx="1" presStyleCnt="5" custScaleY="70995">
        <dgm:presLayoutVars>
          <dgm:bulletEnabled val="1"/>
        </dgm:presLayoutVars>
      </dgm:prSet>
      <dgm:spPr/>
    </dgm:pt>
    <dgm:pt modelId="{3BAC223B-47D6-8A45-A716-CA623E5A73EC}" type="pres">
      <dgm:prSet presAssocID="{0C04B0B6-11F1-3244-9BBD-61060BEC3FAA}" presName="parentText" presStyleLbl="node1" presStyleIdx="2" presStyleCnt="5" custScaleY="34921">
        <dgm:presLayoutVars>
          <dgm:chMax val="0"/>
          <dgm:bulletEnabled val="1"/>
        </dgm:presLayoutVars>
      </dgm:prSet>
      <dgm:spPr>
        <a:xfrm>
          <a:off x="0" y="4165455"/>
          <a:ext cx="9753600" cy="1198080"/>
        </a:xfrm>
        <a:prstGeom prst="roundRect">
          <a:avLst/>
        </a:prstGeom>
      </dgm:spPr>
    </dgm:pt>
    <dgm:pt modelId="{B9B8EF99-8BAA-5E46-BEA9-68A6263E8D5E}" type="pres">
      <dgm:prSet presAssocID="{0C04B0B6-11F1-3244-9BBD-61060BEC3FAA}" presName="childText" presStyleLbl="revTx" presStyleIdx="2" presStyleCnt="5" custScaleY="70578">
        <dgm:presLayoutVars>
          <dgm:bulletEnabled val="1"/>
        </dgm:presLayoutVars>
      </dgm:prSet>
      <dgm:spPr/>
    </dgm:pt>
    <dgm:pt modelId="{ADE1DFAD-17F7-334D-B52A-54B0B640708F}" type="pres">
      <dgm:prSet presAssocID="{C353FC22-641B-734F-9383-73907D44D44D}" presName="parentText" presStyleLbl="node1" presStyleIdx="3" presStyleCnt="5" custScaleY="35903">
        <dgm:presLayoutVars>
          <dgm:chMax val="0"/>
          <dgm:bulletEnabled val="1"/>
        </dgm:presLayoutVars>
      </dgm:prSet>
      <dgm:spPr>
        <a:xfrm>
          <a:off x="0" y="4615153"/>
          <a:ext cx="12300856" cy="1198080"/>
        </a:xfrm>
        <a:prstGeom prst="roundRect">
          <a:avLst/>
        </a:prstGeom>
      </dgm:spPr>
    </dgm:pt>
    <dgm:pt modelId="{9ACEE60B-555B-5F4D-9F9D-B2E9798356A4}" type="pres">
      <dgm:prSet presAssocID="{C353FC22-641B-734F-9383-73907D44D44D}" presName="childText" presStyleLbl="revTx" presStyleIdx="3" presStyleCnt="5" custScaleY="69678">
        <dgm:presLayoutVars>
          <dgm:bulletEnabled val="1"/>
        </dgm:presLayoutVars>
      </dgm:prSet>
      <dgm:spPr/>
    </dgm:pt>
    <dgm:pt modelId="{7ED554A7-97EA-1D43-95A0-E7CC2FD6F91F}" type="pres">
      <dgm:prSet presAssocID="{9FB2D262-A644-C749-819B-9C0742D63587}" presName="parentText" presStyleLbl="node1" presStyleIdx="4" presStyleCnt="5" custScaleY="35767">
        <dgm:presLayoutVars>
          <dgm:chMax val="0"/>
          <dgm:bulletEnabled val="1"/>
        </dgm:presLayoutVars>
      </dgm:prSet>
      <dgm:spPr/>
    </dgm:pt>
    <dgm:pt modelId="{6949DDAF-4F36-7B49-81C9-3857A31D8865}" type="pres">
      <dgm:prSet presAssocID="{9FB2D262-A644-C749-819B-9C0742D63587}" presName="childText" presStyleLbl="revTx" presStyleIdx="4" presStyleCnt="5" custScaleY="63836">
        <dgm:presLayoutVars>
          <dgm:bulletEnabled val="1"/>
        </dgm:presLayoutVars>
      </dgm:prSet>
      <dgm:spPr/>
    </dgm:pt>
  </dgm:ptLst>
  <dgm:cxnLst>
    <dgm:cxn modelId="{3A4AD20A-2ABD-1C4C-BDA7-3784E2EB648E}" type="presOf" srcId="{BAACD577-DFC8-A842-9ADB-87C5F1DA7052}" destId="{6F1C5274-9C48-3448-A475-C99DDF47A3B9}" srcOrd="0" destOrd="0" presId="urn:microsoft.com/office/officeart/2005/8/layout/vList2"/>
    <dgm:cxn modelId="{CEC0D212-B86B-8D48-A5C5-8C16D520C66C}" srcId="{8EABF75B-AF42-3147-8F70-8C4D356246CB}" destId="{A188C5CA-D4E2-3B47-83CF-691B64965798}" srcOrd="1" destOrd="0" parTransId="{4CC5062D-A7C3-9542-AD8C-21158D2F9286}" sibTransId="{907D34CB-90AC-FF4E-9C45-880526FA2233}"/>
    <dgm:cxn modelId="{F7D90D18-C255-B840-9B97-A1C56528F4A7}" type="presOf" srcId="{17E4AB15-309A-4A44-8375-188076681189}" destId="{627A6CBF-AEF6-FC4E-8E61-C9CA17C48911}" srcOrd="0" destOrd="0" presId="urn:microsoft.com/office/officeart/2005/8/layout/vList2"/>
    <dgm:cxn modelId="{167F0420-7F8C-3244-A579-AFE46EC7E9BA}" type="presOf" srcId="{E125946C-6FB5-2A46-85CA-C1C54F72C222}" destId="{6949DDAF-4F36-7B49-81C9-3857A31D8865}" srcOrd="0" destOrd="0" presId="urn:microsoft.com/office/officeart/2005/8/layout/vList2"/>
    <dgm:cxn modelId="{EE6B892E-FA00-2749-8227-F593670376C3}" type="presOf" srcId="{6936DB23-1259-DE45-A2A0-F2ACD9B8433E}" destId="{B9B8EF99-8BAA-5E46-BEA9-68A6263E8D5E}" srcOrd="0" destOrd="0" presId="urn:microsoft.com/office/officeart/2005/8/layout/vList2"/>
    <dgm:cxn modelId="{A84EB23C-0578-6348-B6C4-39C24F949839}" type="presOf" srcId="{C353FC22-641B-734F-9383-73907D44D44D}" destId="{ADE1DFAD-17F7-334D-B52A-54B0B640708F}" srcOrd="0" destOrd="0" presId="urn:microsoft.com/office/officeart/2005/8/layout/vList2"/>
    <dgm:cxn modelId="{04D03B41-45EA-524B-B390-0B118320BFB6}" srcId="{BAACD577-DFC8-A842-9ADB-87C5F1DA7052}" destId="{0D6AC8A7-D06E-7A48-A241-7D31F0353C4F}" srcOrd="0" destOrd="0" parTransId="{62C1BA7B-522F-AE4E-8E33-9FC4A744D47C}" sibTransId="{F134DEA7-5493-E849-A440-A53B962D7479}"/>
    <dgm:cxn modelId="{D2176044-DE2C-F84A-BD2C-F682F76EDA3D}" srcId="{8EABF75B-AF42-3147-8F70-8C4D356246CB}" destId="{BAACD577-DFC8-A842-9ADB-87C5F1DA7052}" srcOrd="0" destOrd="0" parTransId="{C8415AD4-8894-D544-BDD8-59F8430B4812}" sibTransId="{6A25BAB1-C9A0-094C-91FC-882C010BE6FF}"/>
    <dgm:cxn modelId="{4050D54A-8AD6-9D47-9545-98F52DBCC0CC}" type="presOf" srcId="{A1A1D85B-86BF-D04C-AA04-48BCD6C7177E}" destId="{9ACEE60B-555B-5F4D-9F9D-B2E9798356A4}" srcOrd="0" destOrd="0" presId="urn:microsoft.com/office/officeart/2005/8/layout/vList2"/>
    <dgm:cxn modelId="{807AD65C-07E4-344F-AEA1-A5C877759603}" srcId="{A188C5CA-D4E2-3B47-83CF-691B64965798}" destId="{17E4AB15-309A-4A44-8375-188076681189}" srcOrd="0" destOrd="0" parTransId="{29F23AD6-DAD4-5D4F-8720-BA42C822EB16}" sibTransId="{00F5E708-554E-994B-B64A-5A429EACD0E9}"/>
    <dgm:cxn modelId="{D2E8F760-021D-A746-AA5D-3C7010140F79}" srcId="{8EABF75B-AF42-3147-8F70-8C4D356246CB}" destId="{0C04B0B6-11F1-3244-9BBD-61060BEC3FAA}" srcOrd="2" destOrd="0" parTransId="{B6FCC0B1-69F1-3945-A29F-AD19FB323482}" sibTransId="{67B4F3F5-7549-024B-8957-06C839B1B3D0}"/>
    <dgm:cxn modelId="{45EF8661-8B53-C94A-A55F-3996CE443F7C}" srcId="{8EABF75B-AF42-3147-8F70-8C4D356246CB}" destId="{9FB2D262-A644-C749-819B-9C0742D63587}" srcOrd="4" destOrd="0" parTransId="{BBF72F5A-0CF6-5743-A148-3E7C444797EA}" sibTransId="{F3E9B981-1E16-8A4C-9864-A9C38CE9AC91}"/>
    <dgm:cxn modelId="{ED56F36A-DAEC-8745-A92A-A06CC27AB7D3}" srcId="{0C04B0B6-11F1-3244-9BBD-61060BEC3FAA}" destId="{6936DB23-1259-DE45-A2A0-F2ACD9B8433E}" srcOrd="0" destOrd="0" parTransId="{95B8EF8B-4A4C-6446-921E-8A5415E8880B}" sibTransId="{C8FA8667-1310-714A-97BE-11A5FA609FFE}"/>
    <dgm:cxn modelId="{4E1B066E-57D0-1A40-B017-1A943E65CF68}" type="presOf" srcId="{8EABF75B-AF42-3147-8F70-8C4D356246CB}" destId="{ABC380DE-D1AE-944D-8CC7-2C9D78E54C59}" srcOrd="0" destOrd="0" presId="urn:microsoft.com/office/officeart/2005/8/layout/vList2"/>
    <dgm:cxn modelId="{B0FFB082-1417-0B45-81BA-82417EA16F8A}" srcId="{8EABF75B-AF42-3147-8F70-8C4D356246CB}" destId="{C353FC22-641B-734F-9383-73907D44D44D}" srcOrd="3" destOrd="0" parTransId="{99E15C9A-D378-604C-BFD6-C327A957A4C2}" sibTransId="{ADB10A52-B103-114D-A002-AD3ADFB3A4E7}"/>
    <dgm:cxn modelId="{B1E741A9-EE3F-A340-9020-4834ED6250A2}" srcId="{C353FC22-641B-734F-9383-73907D44D44D}" destId="{A1A1D85B-86BF-D04C-AA04-48BCD6C7177E}" srcOrd="0" destOrd="0" parTransId="{D705F3F7-F920-C746-8E33-30845162662F}" sibTransId="{57A35FE5-15DC-2D47-B949-7652AC097E9B}"/>
    <dgm:cxn modelId="{7EE9D3B5-7D16-FB47-9C6F-F8A4897CE7D2}" type="presOf" srcId="{0D6AC8A7-D06E-7A48-A241-7D31F0353C4F}" destId="{E5400DB1-B800-EE4A-A841-6E71FF612691}" srcOrd="0" destOrd="0" presId="urn:microsoft.com/office/officeart/2005/8/layout/vList2"/>
    <dgm:cxn modelId="{B09175C5-5B8F-1149-8CD9-34712AB413FF}" srcId="{9FB2D262-A644-C749-819B-9C0742D63587}" destId="{E125946C-6FB5-2A46-85CA-C1C54F72C222}" srcOrd="0" destOrd="0" parTransId="{A34FB95B-C181-FD47-A0E8-F574C017A488}" sibTransId="{DBE455C6-A5C3-A74F-AC21-1DE2668F6994}"/>
    <dgm:cxn modelId="{C8054DC8-B0C1-0044-91C8-F1B01C84FE2D}" type="presOf" srcId="{9FB2D262-A644-C749-819B-9C0742D63587}" destId="{7ED554A7-97EA-1D43-95A0-E7CC2FD6F91F}" srcOrd="0" destOrd="0" presId="urn:microsoft.com/office/officeart/2005/8/layout/vList2"/>
    <dgm:cxn modelId="{905D57D0-35BF-AC43-B29D-E0B3E392C9EF}" type="presOf" srcId="{A188C5CA-D4E2-3B47-83CF-691B64965798}" destId="{35464804-3964-3A4D-BAA1-AE27F0BFB1E0}" srcOrd="0" destOrd="0" presId="urn:microsoft.com/office/officeart/2005/8/layout/vList2"/>
    <dgm:cxn modelId="{241D52FA-B99C-5547-B705-DD1BE3D11E5E}" type="presOf" srcId="{0C04B0B6-11F1-3244-9BBD-61060BEC3FAA}" destId="{3BAC223B-47D6-8A45-A716-CA623E5A73EC}" srcOrd="0" destOrd="0" presId="urn:microsoft.com/office/officeart/2005/8/layout/vList2"/>
    <dgm:cxn modelId="{FEDF3EF6-A12C-EF4E-8DF1-D326E07399E8}" type="presParOf" srcId="{ABC380DE-D1AE-944D-8CC7-2C9D78E54C59}" destId="{6F1C5274-9C48-3448-A475-C99DDF47A3B9}" srcOrd="0" destOrd="0" presId="urn:microsoft.com/office/officeart/2005/8/layout/vList2"/>
    <dgm:cxn modelId="{FE075526-8A09-674B-B646-22F8FF79736A}" type="presParOf" srcId="{ABC380DE-D1AE-944D-8CC7-2C9D78E54C59}" destId="{E5400DB1-B800-EE4A-A841-6E71FF612691}" srcOrd="1" destOrd="0" presId="urn:microsoft.com/office/officeart/2005/8/layout/vList2"/>
    <dgm:cxn modelId="{9D7553C0-D73D-094F-8B58-66AB96C80D59}" type="presParOf" srcId="{ABC380DE-D1AE-944D-8CC7-2C9D78E54C59}" destId="{35464804-3964-3A4D-BAA1-AE27F0BFB1E0}" srcOrd="2" destOrd="0" presId="urn:microsoft.com/office/officeart/2005/8/layout/vList2"/>
    <dgm:cxn modelId="{917956A8-B8E8-EA4C-99A2-7C6F3F170BF0}" type="presParOf" srcId="{ABC380DE-D1AE-944D-8CC7-2C9D78E54C59}" destId="{627A6CBF-AEF6-FC4E-8E61-C9CA17C48911}" srcOrd="3" destOrd="0" presId="urn:microsoft.com/office/officeart/2005/8/layout/vList2"/>
    <dgm:cxn modelId="{23EE1B61-A97E-F241-953E-C7FB821DD4E1}" type="presParOf" srcId="{ABC380DE-D1AE-944D-8CC7-2C9D78E54C59}" destId="{3BAC223B-47D6-8A45-A716-CA623E5A73EC}" srcOrd="4" destOrd="0" presId="urn:microsoft.com/office/officeart/2005/8/layout/vList2"/>
    <dgm:cxn modelId="{99711490-D200-784D-9465-CBAF433BC1E4}" type="presParOf" srcId="{ABC380DE-D1AE-944D-8CC7-2C9D78E54C59}" destId="{B9B8EF99-8BAA-5E46-BEA9-68A6263E8D5E}" srcOrd="5" destOrd="0" presId="urn:microsoft.com/office/officeart/2005/8/layout/vList2"/>
    <dgm:cxn modelId="{A7A32CF8-B057-A242-A809-9ACFA241E592}" type="presParOf" srcId="{ABC380DE-D1AE-944D-8CC7-2C9D78E54C59}" destId="{ADE1DFAD-17F7-334D-B52A-54B0B640708F}" srcOrd="6" destOrd="0" presId="urn:microsoft.com/office/officeart/2005/8/layout/vList2"/>
    <dgm:cxn modelId="{E88BA605-F083-5C48-99AD-7F8D55C9E4D6}" type="presParOf" srcId="{ABC380DE-D1AE-944D-8CC7-2C9D78E54C59}" destId="{9ACEE60B-555B-5F4D-9F9D-B2E9798356A4}" srcOrd="7" destOrd="0" presId="urn:microsoft.com/office/officeart/2005/8/layout/vList2"/>
    <dgm:cxn modelId="{42F9E69D-3E5F-244A-A5D6-9A01585FCA15}" type="presParOf" srcId="{ABC380DE-D1AE-944D-8CC7-2C9D78E54C59}" destId="{7ED554A7-97EA-1D43-95A0-E7CC2FD6F91F}" srcOrd="8" destOrd="0" presId="urn:microsoft.com/office/officeart/2005/8/layout/vList2"/>
    <dgm:cxn modelId="{77233444-D029-4A4B-8CC3-61AACE17D5A9}" type="presParOf" srcId="{ABC380DE-D1AE-944D-8CC7-2C9D78E54C59}" destId="{6949DDAF-4F36-7B49-81C9-3857A31D8865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B20EB6A-9F6C-364D-B1DF-99ACA3DBA739}" type="doc">
      <dgm:prSet loTypeId="urn:microsoft.com/office/officeart/2005/8/layout/StepDownProces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616904-D89F-864F-A879-B972C6FB866B}">
      <dgm:prSet phldrT="[Text]" custT="1"/>
      <dgm:spPr>
        <a:solidFill>
          <a:srgbClr val="CEE6FD"/>
        </a:solidFill>
        <a:ln>
          <a:solidFill>
            <a:srgbClr val="002060"/>
          </a:solidFill>
        </a:ln>
      </dgm:spPr>
      <dgm:t>
        <a:bodyPr rtlCol="0" anchor="ctr"/>
        <a:lstStyle/>
        <a:p>
          <a:pPr marL="0" algn="ctr" defTabSz="914400" rtl="0" eaLnBrk="1" latinLnBrk="0" hangingPunct="1">
            <a:buNone/>
          </a:pPr>
          <a:r>
            <a:rPr lang="en-US" sz="2000" b="1" u="none" kern="1200" dirty="0">
              <a:solidFill>
                <a:srgbClr val="002060"/>
              </a:solidFill>
              <a:latin typeface="+mn-lt"/>
              <a:ea typeface="+mn-ea"/>
              <a:cs typeface="+mn-cs"/>
            </a:rPr>
            <a:t>Week 1-2</a:t>
          </a:r>
        </a:p>
      </dgm:t>
    </dgm:pt>
    <dgm:pt modelId="{97805A67-0A51-3942-AF6A-2A443F157B26}" type="parTrans" cxnId="{B6821A2F-CC2F-B740-B1A0-BC7B6EA3C8AB}">
      <dgm:prSet/>
      <dgm:spPr/>
      <dgm:t>
        <a:bodyPr/>
        <a:lstStyle/>
        <a:p>
          <a:endParaRPr lang="en-US"/>
        </a:p>
      </dgm:t>
    </dgm:pt>
    <dgm:pt modelId="{0EEA7C79-ADDD-6A47-96BA-AD180099A8C0}" type="sibTrans" cxnId="{B6821A2F-CC2F-B740-B1A0-BC7B6EA3C8AB}">
      <dgm:prSet/>
      <dgm:spPr/>
      <dgm:t>
        <a:bodyPr/>
        <a:lstStyle/>
        <a:p>
          <a:endParaRPr lang="en-US"/>
        </a:p>
      </dgm:t>
    </dgm:pt>
    <dgm:pt modelId="{5C8D16E8-BCF2-1C4C-AD62-028ED9F0D366}">
      <dgm:prSet custT="1"/>
      <dgm:spPr/>
      <dgm:t>
        <a:bodyPr/>
        <a:lstStyle/>
        <a:p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Saturday uplift for FOODS_1</a:t>
          </a:r>
        </a:p>
      </dgm:t>
    </dgm:pt>
    <dgm:pt modelId="{76FBC230-A3CC-D048-8BE3-85F8ADC4305D}" type="parTrans" cxnId="{722AB928-268A-5640-8FB1-239FB4A80846}">
      <dgm:prSet/>
      <dgm:spPr/>
      <dgm:t>
        <a:bodyPr/>
        <a:lstStyle/>
        <a:p>
          <a:endParaRPr lang="en-US"/>
        </a:p>
      </dgm:t>
    </dgm:pt>
    <dgm:pt modelId="{3E69E6AA-8ADF-5746-980E-4AA8526F7D9C}" type="sibTrans" cxnId="{722AB928-268A-5640-8FB1-239FB4A80846}">
      <dgm:prSet/>
      <dgm:spPr/>
      <dgm:t>
        <a:bodyPr/>
        <a:lstStyle/>
        <a:p>
          <a:endParaRPr lang="en-US"/>
        </a:p>
      </dgm:t>
    </dgm:pt>
    <dgm:pt modelId="{292E9187-10B2-CC4C-8AD9-BC11BD42F362}">
      <dgm:prSet custT="1"/>
      <dgm:spPr/>
      <dgm:t>
        <a:bodyPr/>
        <a:lstStyle/>
        <a:p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Flag FOODS_3 event/Friday for override</a:t>
          </a:r>
        </a:p>
      </dgm:t>
    </dgm:pt>
    <dgm:pt modelId="{632FFE24-A3CF-D94D-A28B-8D8BEB7C4B19}" type="parTrans" cxnId="{124A469D-C5B9-7B49-AD70-4776D1ACB0B3}">
      <dgm:prSet/>
      <dgm:spPr/>
      <dgm:t>
        <a:bodyPr/>
        <a:lstStyle/>
        <a:p>
          <a:endParaRPr lang="en-US"/>
        </a:p>
      </dgm:t>
    </dgm:pt>
    <dgm:pt modelId="{A32E253E-4C67-7142-81F9-260474DEAF81}" type="sibTrans" cxnId="{124A469D-C5B9-7B49-AD70-4776D1ACB0B3}">
      <dgm:prSet/>
      <dgm:spPr/>
      <dgm:t>
        <a:bodyPr/>
        <a:lstStyle/>
        <a:p>
          <a:endParaRPr lang="en-US"/>
        </a:p>
      </dgm:t>
    </dgm:pt>
    <dgm:pt modelId="{2DA1DCD0-D2F4-2448-999D-76E189CB105C}">
      <dgm:prSet custT="1"/>
      <dgm:spPr>
        <a:solidFill>
          <a:srgbClr val="CEE6FD"/>
        </a:solidFill>
        <a:ln w="12700" cap="flat" cmpd="sng" algn="ctr">
          <a:solidFill>
            <a:srgbClr val="002060"/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rtlCol="0" anchor="ctr" anchorCtr="0"/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none" kern="1200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Month 1-2</a:t>
          </a:r>
        </a:p>
      </dgm:t>
    </dgm:pt>
    <dgm:pt modelId="{EFB218CB-A01D-5642-9379-DF3220DC9A3D}" type="parTrans" cxnId="{3D3737E4-7F6F-F14B-A24F-158318BE8809}">
      <dgm:prSet/>
      <dgm:spPr/>
      <dgm:t>
        <a:bodyPr/>
        <a:lstStyle/>
        <a:p>
          <a:endParaRPr lang="en-US"/>
        </a:p>
      </dgm:t>
    </dgm:pt>
    <dgm:pt modelId="{3BDBB65A-6543-1D4D-A8C7-9CA606B362E0}" type="sibTrans" cxnId="{3D3737E4-7F6F-F14B-A24F-158318BE8809}">
      <dgm:prSet/>
      <dgm:spPr/>
      <dgm:t>
        <a:bodyPr/>
        <a:lstStyle/>
        <a:p>
          <a:endParaRPr lang="en-US"/>
        </a:p>
      </dgm:t>
    </dgm:pt>
    <dgm:pt modelId="{B1272140-B068-F54A-9BB9-9C60732EBCC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Apply Bias corrections</a:t>
          </a:r>
        </a:p>
      </dgm:t>
    </dgm:pt>
    <dgm:pt modelId="{9E3528AE-BC3F-6D44-87F8-B32C1C513D01}" type="parTrans" cxnId="{971E5E37-C9DD-C54F-B6C2-6FC8B22095D6}">
      <dgm:prSet/>
      <dgm:spPr/>
      <dgm:t>
        <a:bodyPr/>
        <a:lstStyle/>
        <a:p>
          <a:endParaRPr lang="en-US"/>
        </a:p>
      </dgm:t>
    </dgm:pt>
    <dgm:pt modelId="{0DAE9FC9-2C6C-8942-99B4-60B0D8A468BE}" type="sibTrans" cxnId="{971E5E37-C9DD-C54F-B6C2-6FC8B22095D6}">
      <dgm:prSet/>
      <dgm:spPr/>
      <dgm:t>
        <a:bodyPr/>
        <a:lstStyle/>
        <a:p>
          <a:endParaRPr lang="en-US"/>
        </a:p>
      </dgm:t>
    </dgm:pt>
    <dgm:pt modelId="{28CDE0C6-5D99-CB49-9B20-9FCB1AC3EC28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Design SKU daily contribution</a:t>
          </a:r>
        </a:p>
      </dgm:t>
    </dgm:pt>
    <dgm:pt modelId="{B24D972E-0DBC-C048-9A63-3A40F291CF0F}" type="parTrans" cxnId="{D5F68A6C-F27B-C24F-9414-2D08D3D4B754}">
      <dgm:prSet/>
      <dgm:spPr/>
      <dgm:t>
        <a:bodyPr/>
        <a:lstStyle/>
        <a:p>
          <a:endParaRPr lang="en-US"/>
        </a:p>
      </dgm:t>
    </dgm:pt>
    <dgm:pt modelId="{CE2BF9AC-5F6D-8242-AC06-47D2B0F7F67B}" type="sibTrans" cxnId="{D5F68A6C-F27B-C24F-9414-2D08D3D4B754}">
      <dgm:prSet/>
      <dgm:spPr/>
      <dgm:t>
        <a:bodyPr/>
        <a:lstStyle/>
        <a:p>
          <a:endParaRPr lang="en-US"/>
        </a:p>
      </dgm:t>
    </dgm:pt>
    <dgm:pt modelId="{11FC14CB-DB2A-1E42-88A6-6E4A487EE735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Item fill rate monitoring dashboard</a:t>
          </a:r>
        </a:p>
      </dgm:t>
    </dgm:pt>
    <dgm:pt modelId="{0EF2105F-4B92-714A-93C0-19FFA44F1EA9}" type="parTrans" cxnId="{ECC3DC50-B902-E945-BBF5-025E342FBE2D}">
      <dgm:prSet/>
      <dgm:spPr/>
      <dgm:t>
        <a:bodyPr/>
        <a:lstStyle/>
        <a:p>
          <a:endParaRPr lang="en-US"/>
        </a:p>
      </dgm:t>
    </dgm:pt>
    <dgm:pt modelId="{D592D340-148C-AA45-B3B5-F8BB8642D1AC}" type="sibTrans" cxnId="{ECC3DC50-B902-E945-BBF5-025E342FBE2D}">
      <dgm:prSet/>
      <dgm:spPr/>
      <dgm:t>
        <a:bodyPr/>
        <a:lstStyle/>
        <a:p>
          <a:endParaRPr lang="en-US"/>
        </a:p>
      </dgm:t>
    </dgm:pt>
    <dgm:pt modelId="{3B56AC3C-4B23-EA4C-B776-115C189869BF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Document phase-in / phase-out rules</a:t>
          </a:r>
        </a:p>
      </dgm:t>
    </dgm:pt>
    <dgm:pt modelId="{C944D35D-5613-9945-BACE-CF3EF351B393}" type="parTrans" cxnId="{8879D79F-C579-9348-84E7-6B7C2828046E}">
      <dgm:prSet/>
      <dgm:spPr/>
      <dgm:t>
        <a:bodyPr/>
        <a:lstStyle/>
        <a:p>
          <a:endParaRPr lang="en-US"/>
        </a:p>
      </dgm:t>
    </dgm:pt>
    <dgm:pt modelId="{3BC59119-858F-CF4B-AC89-0FC5517ED71D}" type="sibTrans" cxnId="{8879D79F-C579-9348-84E7-6B7C2828046E}">
      <dgm:prSet/>
      <dgm:spPr/>
      <dgm:t>
        <a:bodyPr/>
        <a:lstStyle/>
        <a:p>
          <a:endParaRPr lang="en-US"/>
        </a:p>
      </dgm:t>
    </dgm:pt>
    <dgm:pt modelId="{CE4FDC1D-2B86-7A42-9697-4A655F03AE4F}">
      <dgm:prSet custT="1"/>
      <dgm:spPr>
        <a:solidFill>
          <a:srgbClr val="CEE6FD"/>
        </a:solidFill>
        <a:ln w="12700" cap="flat" cmpd="sng" algn="ctr">
          <a:solidFill>
            <a:srgbClr val="002060"/>
          </a:solidFill>
          <a:prstDash val="solid"/>
          <a:miter lim="800000"/>
        </a:ln>
        <a:effectLst/>
      </dgm:spPr>
      <dgm:t>
        <a:bodyPr spcFirstLastPara="0" vert="horz" wrap="square" lIns="76200" tIns="76200" rIns="76200" bIns="76200" numCol="1" spcCol="1270" rtlCol="0" anchor="ctr" anchorCtr="0"/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none" kern="1200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Month 2-4</a:t>
          </a:r>
        </a:p>
      </dgm:t>
    </dgm:pt>
    <dgm:pt modelId="{9F2AB51C-A1AA-654F-8149-243BE6D73C0D}" type="parTrans" cxnId="{8CC8ACA9-A151-6245-BFFF-43320B57D4B6}">
      <dgm:prSet/>
      <dgm:spPr/>
      <dgm:t>
        <a:bodyPr/>
        <a:lstStyle/>
        <a:p>
          <a:endParaRPr lang="en-US"/>
        </a:p>
      </dgm:t>
    </dgm:pt>
    <dgm:pt modelId="{21688CC7-3479-F74B-BD3D-C837FB02E2B6}" type="sibTrans" cxnId="{8CC8ACA9-A151-6245-BFFF-43320B57D4B6}">
      <dgm:prSet/>
      <dgm:spPr/>
      <dgm:t>
        <a:bodyPr/>
        <a:lstStyle/>
        <a:p>
          <a:endParaRPr lang="en-US"/>
        </a:p>
      </dgm:t>
    </dgm:pt>
    <dgm:pt modelId="{99C88263-531C-024B-A88D-D694CFA195FC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Weekly model refitting cadence</a:t>
          </a:r>
        </a:p>
      </dgm:t>
    </dgm:pt>
    <dgm:pt modelId="{7740D55A-FA49-3745-9758-4C6C0E90B913}" type="parTrans" cxnId="{B534E05F-1CB4-4D4F-B4D1-45BB2680735A}">
      <dgm:prSet/>
      <dgm:spPr/>
      <dgm:t>
        <a:bodyPr/>
        <a:lstStyle/>
        <a:p>
          <a:endParaRPr lang="en-US"/>
        </a:p>
      </dgm:t>
    </dgm:pt>
    <dgm:pt modelId="{06DD2FAF-2A56-AA46-B3D5-EAA120962578}" type="sibTrans" cxnId="{B534E05F-1CB4-4D4F-B4D1-45BB2680735A}">
      <dgm:prSet/>
      <dgm:spPr/>
      <dgm:t>
        <a:bodyPr/>
        <a:lstStyle/>
        <a:p>
          <a:endParaRPr lang="en-US"/>
        </a:p>
      </dgm:t>
    </dgm:pt>
    <dgm:pt modelId="{5A9D8C8A-C0BC-EA47-AC0D-3D689AF6CA7D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Event override rule library</a:t>
          </a:r>
        </a:p>
      </dgm:t>
    </dgm:pt>
    <dgm:pt modelId="{BA64B847-3317-064C-8750-5F465846D190}" type="parTrans" cxnId="{13CDD62C-F874-8140-AC1B-A747F1206B43}">
      <dgm:prSet/>
      <dgm:spPr/>
      <dgm:t>
        <a:bodyPr/>
        <a:lstStyle/>
        <a:p>
          <a:endParaRPr lang="en-US"/>
        </a:p>
      </dgm:t>
    </dgm:pt>
    <dgm:pt modelId="{2E2EEDAA-9F76-E043-86B3-185954E9A342}" type="sibTrans" cxnId="{13CDD62C-F874-8140-AC1B-A747F1206B43}">
      <dgm:prSet/>
      <dgm:spPr/>
      <dgm:t>
        <a:bodyPr/>
        <a:lstStyle/>
        <a:p>
          <a:endParaRPr lang="en-US"/>
        </a:p>
      </dgm:t>
    </dgm:pt>
    <dgm:pt modelId="{A77C64F9-8522-554C-9DF4-87B6465D2EC3}">
      <dgm:prSet custT="1"/>
      <dgm:spPr/>
      <dgm:t>
        <a:bodyPr/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Extend to other Walmart stores</a:t>
          </a:r>
        </a:p>
      </dgm:t>
    </dgm:pt>
    <dgm:pt modelId="{CB046745-EB59-FA4D-B102-7D66CAD5E942}" type="parTrans" cxnId="{735BE717-E611-374C-9568-BC69D18552AB}">
      <dgm:prSet/>
      <dgm:spPr/>
      <dgm:t>
        <a:bodyPr/>
        <a:lstStyle/>
        <a:p>
          <a:endParaRPr lang="en-US"/>
        </a:p>
      </dgm:t>
    </dgm:pt>
    <dgm:pt modelId="{C36FA9BD-7A79-A742-8FAF-9A91CA791307}" type="sibTrans" cxnId="{735BE717-E611-374C-9568-BC69D18552AB}">
      <dgm:prSet/>
      <dgm:spPr/>
      <dgm:t>
        <a:bodyPr/>
        <a:lstStyle/>
        <a:p>
          <a:endParaRPr lang="en-US"/>
        </a:p>
      </dgm:t>
    </dgm:pt>
    <dgm:pt modelId="{EABD42CC-E261-7648-A54A-B59BEBDE3538}" type="pres">
      <dgm:prSet presAssocID="{7B20EB6A-9F6C-364D-B1DF-99ACA3DBA739}" presName="rootnode" presStyleCnt="0">
        <dgm:presLayoutVars>
          <dgm:chMax/>
          <dgm:chPref/>
          <dgm:dir/>
          <dgm:animLvl val="lvl"/>
        </dgm:presLayoutVars>
      </dgm:prSet>
      <dgm:spPr/>
    </dgm:pt>
    <dgm:pt modelId="{15E533C1-F568-0046-B226-EEB55D11214F}" type="pres">
      <dgm:prSet presAssocID="{8C616904-D89F-864F-A879-B972C6FB866B}" presName="composite" presStyleCnt="0"/>
      <dgm:spPr/>
    </dgm:pt>
    <dgm:pt modelId="{3BF1C338-8645-1D4A-83C1-4540D70905BC}" type="pres">
      <dgm:prSet presAssocID="{8C616904-D89F-864F-A879-B972C6FB866B}" presName="bentUpArrow1" presStyleLbl="alignImgPlace1" presStyleIdx="0" presStyleCnt="2" custScaleX="50529" custScaleY="75313" custLinFactNeighborX="21962" custLinFactNeighborY="-17630"/>
      <dgm:spPr>
        <a:solidFill>
          <a:srgbClr val="CEE6FE"/>
        </a:solidFill>
      </dgm:spPr>
    </dgm:pt>
    <dgm:pt modelId="{A477C011-FBD5-8F49-AE8F-6865E38CCC3D}" type="pres">
      <dgm:prSet presAssocID="{8C616904-D89F-864F-A879-B972C6FB866B}" presName="ParentText" presStyleLbl="node1" presStyleIdx="0" presStyleCnt="3" custScaleX="53249" custScaleY="59994">
        <dgm:presLayoutVars>
          <dgm:chMax val="1"/>
          <dgm:chPref val="1"/>
          <dgm:bulletEnabled val="1"/>
        </dgm:presLayoutVars>
      </dgm:prSet>
      <dgm:spPr>
        <a:xfrm>
          <a:off x="88858" y="37254"/>
          <a:ext cx="2828484" cy="1979847"/>
        </a:xfrm>
        <a:prstGeom prst="roundRect">
          <a:avLst>
            <a:gd name="adj" fmla="val 16670"/>
          </a:avLst>
        </a:prstGeom>
      </dgm:spPr>
    </dgm:pt>
    <dgm:pt modelId="{89A3C671-4806-FC4A-9146-4FF185CC75F5}" type="pres">
      <dgm:prSet presAssocID="{8C616904-D89F-864F-A879-B972C6FB866B}" presName="ChildText" presStyleLbl="revTx" presStyleIdx="0" presStyleCnt="3" custScaleX="315209" custLinFactNeighborX="77006" custLinFactNeighborY="2924">
        <dgm:presLayoutVars>
          <dgm:chMax val="0"/>
          <dgm:chPref val="0"/>
          <dgm:bulletEnabled val="1"/>
        </dgm:presLayoutVars>
      </dgm:prSet>
      <dgm:spPr/>
    </dgm:pt>
    <dgm:pt modelId="{81B621C8-6974-C143-88A1-CF035B590356}" type="pres">
      <dgm:prSet presAssocID="{0EEA7C79-ADDD-6A47-96BA-AD180099A8C0}" presName="sibTrans" presStyleCnt="0"/>
      <dgm:spPr/>
    </dgm:pt>
    <dgm:pt modelId="{EC306989-BCC4-E341-86FA-0A1A6D7044E7}" type="pres">
      <dgm:prSet presAssocID="{2DA1DCD0-D2F4-2448-999D-76E189CB105C}" presName="composite" presStyleCnt="0"/>
      <dgm:spPr/>
    </dgm:pt>
    <dgm:pt modelId="{46F8E730-CC29-354D-86FE-A678C82736CE}" type="pres">
      <dgm:prSet presAssocID="{2DA1DCD0-D2F4-2448-999D-76E189CB105C}" presName="bentUpArrow1" presStyleLbl="alignImgPlace1" presStyleIdx="1" presStyleCnt="2" custScaleX="56575" custScaleY="80945" custLinFactNeighborX="-60414" custLinFactNeighborY="-934"/>
      <dgm:spPr>
        <a:xfrm rot="5400000">
          <a:off x="2549512" y="3968195"/>
          <a:ext cx="1728216" cy="1967512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rgbClr val="CEE6FE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gm:spPr>
    </dgm:pt>
    <dgm:pt modelId="{5FF52C7E-8896-444A-ABE6-24587F637487}" type="pres">
      <dgm:prSet presAssocID="{2DA1DCD0-D2F4-2448-999D-76E189CB105C}" presName="ParentText" presStyleLbl="node1" presStyleIdx="1" presStyleCnt="3" custScaleX="59937" custScaleY="64998" custLinFactNeighborX="-56454" custLinFactNeighborY="5503">
        <dgm:presLayoutVars>
          <dgm:chMax val="1"/>
          <dgm:chPref val="1"/>
          <dgm:bulletEnabled val="1"/>
        </dgm:presLayoutVars>
      </dgm:prSet>
      <dgm:spPr>
        <a:xfrm>
          <a:off x="2352545" y="2130719"/>
          <a:ext cx="2922767" cy="2045842"/>
        </a:xfrm>
        <a:prstGeom prst="roundRect">
          <a:avLst>
            <a:gd name="adj" fmla="val 16670"/>
          </a:avLst>
        </a:prstGeom>
      </dgm:spPr>
    </dgm:pt>
    <dgm:pt modelId="{FA89C795-246F-2B4C-B427-016C73760830}" type="pres">
      <dgm:prSet presAssocID="{2DA1DCD0-D2F4-2448-999D-76E189CB105C}" presName="ChildText" presStyleLbl="revTx" presStyleIdx="1" presStyleCnt="3" custScaleX="336555" custLinFactNeighborX="26327" custLinFactNeighborY="8266">
        <dgm:presLayoutVars>
          <dgm:chMax val="0"/>
          <dgm:chPref val="0"/>
          <dgm:bulletEnabled val="1"/>
        </dgm:presLayoutVars>
      </dgm:prSet>
      <dgm:spPr/>
    </dgm:pt>
    <dgm:pt modelId="{7FD1F347-8C93-0449-87B5-07256EAA8E9B}" type="pres">
      <dgm:prSet presAssocID="{3BDBB65A-6543-1D4D-A8C7-9CA606B362E0}" presName="sibTrans" presStyleCnt="0"/>
      <dgm:spPr/>
    </dgm:pt>
    <dgm:pt modelId="{6991F568-9A9C-E447-9137-5004B2E598DE}" type="pres">
      <dgm:prSet presAssocID="{CE4FDC1D-2B86-7A42-9697-4A655F03AE4F}" presName="composite" presStyleCnt="0"/>
      <dgm:spPr/>
    </dgm:pt>
    <dgm:pt modelId="{F0A7D34B-56ED-6D41-BD2E-ED115AAA679B}" type="pres">
      <dgm:prSet presAssocID="{CE4FDC1D-2B86-7A42-9697-4A655F03AE4F}" presName="ParentText" presStyleLbl="node1" presStyleIdx="2" presStyleCnt="3" custScaleX="63868" custScaleY="59683" custLinFactNeighborX="-93447" custLinFactNeighborY="18117">
        <dgm:presLayoutVars>
          <dgm:chMax val="1"/>
          <dgm:chPref val="1"/>
          <dgm:bulletEnabled val="1"/>
        </dgm:presLayoutVars>
      </dgm:prSet>
      <dgm:spPr>
        <a:xfrm>
          <a:off x="4607457" y="4352886"/>
          <a:ext cx="2981132" cy="2086696"/>
        </a:xfrm>
        <a:prstGeom prst="roundRect">
          <a:avLst>
            <a:gd name="adj" fmla="val 16670"/>
          </a:avLst>
        </a:prstGeom>
      </dgm:spPr>
    </dgm:pt>
    <dgm:pt modelId="{C9560C64-AA29-5241-8402-5A4B7EF544A8}" type="pres">
      <dgm:prSet presAssocID="{CE4FDC1D-2B86-7A42-9697-4A655F03AE4F}" presName="FinalChildText" presStyleLbl="revTx" presStyleIdx="2" presStyleCnt="3" custScaleX="277982" custLinFactNeighborX="-50079" custLinFactNeighborY="20505">
        <dgm:presLayoutVars>
          <dgm:chMax val="0"/>
          <dgm:chPref val="0"/>
          <dgm:bulletEnabled val="1"/>
        </dgm:presLayoutVars>
      </dgm:prSet>
      <dgm:spPr/>
    </dgm:pt>
  </dgm:ptLst>
  <dgm:cxnLst>
    <dgm:cxn modelId="{9B2A6601-540F-B640-9705-89DB882CE110}" type="presOf" srcId="{8C616904-D89F-864F-A879-B972C6FB866B}" destId="{A477C011-FBD5-8F49-AE8F-6865E38CCC3D}" srcOrd="0" destOrd="0" presId="urn:microsoft.com/office/officeart/2005/8/layout/StepDownProcess"/>
    <dgm:cxn modelId="{735BE717-E611-374C-9568-BC69D18552AB}" srcId="{CE4FDC1D-2B86-7A42-9697-4A655F03AE4F}" destId="{A77C64F9-8522-554C-9DF4-87B6465D2EC3}" srcOrd="2" destOrd="0" parTransId="{CB046745-EB59-FA4D-B102-7D66CAD5E942}" sibTransId="{C36FA9BD-7A79-A742-8FAF-9A91CA791307}"/>
    <dgm:cxn modelId="{4CAA281C-D696-1E4F-9447-D23DA3856D27}" type="presOf" srcId="{5A9D8C8A-C0BC-EA47-AC0D-3D689AF6CA7D}" destId="{C9560C64-AA29-5241-8402-5A4B7EF544A8}" srcOrd="0" destOrd="1" presId="urn:microsoft.com/office/officeart/2005/8/layout/StepDownProcess"/>
    <dgm:cxn modelId="{773F8F24-94B7-DA48-8858-8F9531239453}" type="presOf" srcId="{3B56AC3C-4B23-EA4C-B776-115C189869BF}" destId="{FA89C795-246F-2B4C-B427-016C73760830}" srcOrd="0" destOrd="2" presId="urn:microsoft.com/office/officeart/2005/8/layout/StepDownProcess"/>
    <dgm:cxn modelId="{722AB928-268A-5640-8FB1-239FB4A80846}" srcId="{8C616904-D89F-864F-A879-B972C6FB866B}" destId="{5C8D16E8-BCF2-1C4C-AD62-028ED9F0D366}" srcOrd="1" destOrd="0" parTransId="{76FBC230-A3CC-D048-8BE3-85F8ADC4305D}" sibTransId="{3E69E6AA-8ADF-5746-980E-4AA8526F7D9C}"/>
    <dgm:cxn modelId="{13CDD62C-F874-8140-AC1B-A747F1206B43}" srcId="{CE4FDC1D-2B86-7A42-9697-4A655F03AE4F}" destId="{5A9D8C8A-C0BC-EA47-AC0D-3D689AF6CA7D}" srcOrd="1" destOrd="0" parTransId="{BA64B847-3317-064C-8750-5F465846D190}" sibTransId="{2E2EEDAA-9F76-E043-86B3-185954E9A342}"/>
    <dgm:cxn modelId="{B6821A2F-CC2F-B740-B1A0-BC7B6EA3C8AB}" srcId="{7B20EB6A-9F6C-364D-B1DF-99ACA3DBA739}" destId="{8C616904-D89F-864F-A879-B972C6FB866B}" srcOrd="0" destOrd="0" parTransId="{97805A67-0A51-3942-AF6A-2A443F157B26}" sibTransId="{0EEA7C79-ADDD-6A47-96BA-AD180099A8C0}"/>
    <dgm:cxn modelId="{971E5E37-C9DD-C54F-B6C2-6FC8B22095D6}" srcId="{8C616904-D89F-864F-A879-B972C6FB866B}" destId="{B1272140-B068-F54A-9BB9-9C60732EBCC4}" srcOrd="0" destOrd="0" parTransId="{9E3528AE-BC3F-6D44-87F8-B32C1C513D01}" sibTransId="{0DAE9FC9-2C6C-8942-99B4-60B0D8A468BE}"/>
    <dgm:cxn modelId="{51C5503F-E785-604B-9054-ABEACBE6BF74}" type="presOf" srcId="{A77C64F9-8522-554C-9DF4-87B6465D2EC3}" destId="{C9560C64-AA29-5241-8402-5A4B7EF544A8}" srcOrd="0" destOrd="2" presId="urn:microsoft.com/office/officeart/2005/8/layout/StepDownProcess"/>
    <dgm:cxn modelId="{ECC3DC50-B902-E945-BBF5-025E342FBE2D}" srcId="{2DA1DCD0-D2F4-2448-999D-76E189CB105C}" destId="{11FC14CB-DB2A-1E42-88A6-6E4A487EE735}" srcOrd="1" destOrd="0" parTransId="{0EF2105F-4B92-714A-93C0-19FFA44F1EA9}" sibTransId="{D592D340-148C-AA45-B3B5-F8BB8642D1AC}"/>
    <dgm:cxn modelId="{B534E05F-1CB4-4D4F-B4D1-45BB2680735A}" srcId="{CE4FDC1D-2B86-7A42-9697-4A655F03AE4F}" destId="{99C88263-531C-024B-A88D-D694CFA195FC}" srcOrd="0" destOrd="0" parTransId="{7740D55A-FA49-3745-9758-4C6C0E90B913}" sibTransId="{06DD2FAF-2A56-AA46-B3D5-EAA120962578}"/>
    <dgm:cxn modelId="{1872CA62-9948-D843-9CBA-30EAEBCE3079}" type="presOf" srcId="{28CDE0C6-5D99-CB49-9B20-9FCB1AC3EC28}" destId="{FA89C795-246F-2B4C-B427-016C73760830}" srcOrd="0" destOrd="0" presId="urn:microsoft.com/office/officeart/2005/8/layout/StepDownProcess"/>
    <dgm:cxn modelId="{D5F68A6C-F27B-C24F-9414-2D08D3D4B754}" srcId="{2DA1DCD0-D2F4-2448-999D-76E189CB105C}" destId="{28CDE0C6-5D99-CB49-9B20-9FCB1AC3EC28}" srcOrd="0" destOrd="0" parTransId="{B24D972E-0DBC-C048-9A63-3A40F291CF0F}" sibTransId="{CE2BF9AC-5F6D-8242-AC06-47D2B0F7F67B}"/>
    <dgm:cxn modelId="{6CC57C6E-1B1C-4C4F-9628-F0F48B6BE7EA}" type="presOf" srcId="{2DA1DCD0-D2F4-2448-999D-76E189CB105C}" destId="{5FF52C7E-8896-444A-ABE6-24587F637487}" srcOrd="0" destOrd="0" presId="urn:microsoft.com/office/officeart/2005/8/layout/StepDownProcess"/>
    <dgm:cxn modelId="{E6A34B88-1642-8745-8AC5-1887F5E60E50}" type="presOf" srcId="{292E9187-10B2-CC4C-8AD9-BC11BD42F362}" destId="{89A3C671-4806-FC4A-9146-4FF185CC75F5}" srcOrd="0" destOrd="2" presId="urn:microsoft.com/office/officeart/2005/8/layout/StepDownProcess"/>
    <dgm:cxn modelId="{484C6B9A-FD4A-6946-802D-FCE3FFFF26A0}" type="presOf" srcId="{B1272140-B068-F54A-9BB9-9C60732EBCC4}" destId="{89A3C671-4806-FC4A-9146-4FF185CC75F5}" srcOrd="0" destOrd="0" presId="urn:microsoft.com/office/officeart/2005/8/layout/StepDownProcess"/>
    <dgm:cxn modelId="{124A469D-C5B9-7B49-AD70-4776D1ACB0B3}" srcId="{8C616904-D89F-864F-A879-B972C6FB866B}" destId="{292E9187-10B2-CC4C-8AD9-BC11BD42F362}" srcOrd="2" destOrd="0" parTransId="{632FFE24-A3CF-D94D-A28B-8D8BEB7C4B19}" sibTransId="{A32E253E-4C67-7142-81F9-260474DEAF81}"/>
    <dgm:cxn modelId="{8879D79F-C579-9348-84E7-6B7C2828046E}" srcId="{2DA1DCD0-D2F4-2448-999D-76E189CB105C}" destId="{3B56AC3C-4B23-EA4C-B776-115C189869BF}" srcOrd="2" destOrd="0" parTransId="{C944D35D-5613-9945-BACE-CF3EF351B393}" sibTransId="{3BC59119-858F-CF4B-AC89-0FC5517ED71D}"/>
    <dgm:cxn modelId="{8CC8ACA9-A151-6245-BFFF-43320B57D4B6}" srcId="{7B20EB6A-9F6C-364D-B1DF-99ACA3DBA739}" destId="{CE4FDC1D-2B86-7A42-9697-4A655F03AE4F}" srcOrd="2" destOrd="0" parTransId="{9F2AB51C-A1AA-654F-8149-243BE6D73C0D}" sibTransId="{21688CC7-3479-F74B-BD3D-C837FB02E2B6}"/>
    <dgm:cxn modelId="{5CA3FDB8-5F0C-814C-91BF-8565D58AA9C1}" type="presOf" srcId="{7B20EB6A-9F6C-364D-B1DF-99ACA3DBA739}" destId="{EABD42CC-E261-7648-A54A-B59BEBDE3538}" srcOrd="0" destOrd="0" presId="urn:microsoft.com/office/officeart/2005/8/layout/StepDownProcess"/>
    <dgm:cxn modelId="{8B1EF5BA-03AC-E74C-B14C-02212B5D4E6C}" type="presOf" srcId="{99C88263-531C-024B-A88D-D694CFA195FC}" destId="{C9560C64-AA29-5241-8402-5A4B7EF544A8}" srcOrd="0" destOrd="0" presId="urn:microsoft.com/office/officeart/2005/8/layout/StepDownProcess"/>
    <dgm:cxn modelId="{65BF97D1-1977-7748-86FE-9AC3A1A7BC72}" type="presOf" srcId="{5C8D16E8-BCF2-1C4C-AD62-028ED9F0D366}" destId="{89A3C671-4806-FC4A-9146-4FF185CC75F5}" srcOrd="0" destOrd="1" presId="urn:microsoft.com/office/officeart/2005/8/layout/StepDownProcess"/>
    <dgm:cxn modelId="{3FE5EDE1-CB24-9345-932A-2BFF8D9C565F}" type="presOf" srcId="{CE4FDC1D-2B86-7A42-9697-4A655F03AE4F}" destId="{F0A7D34B-56ED-6D41-BD2E-ED115AAA679B}" srcOrd="0" destOrd="0" presId="urn:microsoft.com/office/officeart/2005/8/layout/StepDownProcess"/>
    <dgm:cxn modelId="{3D3737E4-7F6F-F14B-A24F-158318BE8809}" srcId="{7B20EB6A-9F6C-364D-B1DF-99ACA3DBA739}" destId="{2DA1DCD0-D2F4-2448-999D-76E189CB105C}" srcOrd="1" destOrd="0" parTransId="{EFB218CB-A01D-5642-9379-DF3220DC9A3D}" sibTransId="{3BDBB65A-6543-1D4D-A8C7-9CA606B362E0}"/>
    <dgm:cxn modelId="{79BFA8F4-B1E3-324B-88A3-A3AA33281F52}" type="presOf" srcId="{11FC14CB-DB2A-1E42-88A6-6E4A487EE735}" destId="{FA89C795-246F-2B4C-B427-016C73760830}" srcOrd="0" destOrd="1" presId="urn:microsoft.com/office/officeart/2005/8/layout/StepDownProcess"/>
    <dgm:cxn modelId="{528BF03E-129E-F04B-8A47-1ABACA6885A7}" type="presParOf" srcId="{EABD42CC-E261-7648-A54A-B59BEBDE3538}" destId="{15E533C1-F568-0046-B226-EEB55D11214F}" srcOrd="0" destOrd="0" presId="urn:microsoft.com/office/officeart/2005/8/layout/StepDownProcess"/>
    <dgm:cxn modelId="{3297B43E-1E4F-0449-9B46-A01DA4F3EAF8}" type="presParOf" srcId="{15E533C1-F568-0046-B226-EEB55D11214F}" destId="{3BF1C338-8645-1D4A-83C1-4540D70905BC}" srcOrd="0" destOrd="0" presId="urn:microsoft.com/office/officeart/2005/8/layout/StepDownProcess"/>
    <dgm:cxn modelId="{B5C02A92-7B4C-A940-95CD-90E8C798CD7D}" type="presParOf" srcId="{15E533C1-F568-0046-B226-EEB55D11214F}" destId="{A477C011-FBD5-8F49-AE8F-6865E38CCC3D}" srcOrd="1" destOrd="0" presId="urn:microsoft.com/office/officeart/2005/8/layout/StepDownProcess"/>
    <dgm:cxn modelId="{7E850C24-A70B-0245-8965-83F4DC1A01AC}" type="presParOf" srcId="{15E533C1-F568-0046-B226-EEB55D11214F}" destId="{89A3C671-4806-FC4A-9146-4FF185CC75F5}" srcOrd="2" destOrd="0" presId="urn:microsoft.com/office/officeart/2005/8/layout/StepDownProcess"/>
    <dgm:cxn modelId="{F39241E3-18FA-F74B-AEC3-D3A16F107AB6}" type="presParOf" srcId="{EABD42CC-E261-7648-A54A-B59BEBDE3538}" destId="{81B621C8-6974-C143-88A1-CF035B590356}" srcOrd="1" destOrd="0" presId="urn:microsoft.com/office/officeart/2005/8/layout/StepDownProcess"/>
    <dgm:cxn modelId="{13D65998-9799-EF47-AE47-2872E8FDCAF7}" type="presParOf" srcId="{EABD42CC-E261-7648-A54A-B59BEBDE3538}" destId="{EC306989-BCC4-E341-86FA-0A1A6D7044E7}" srcOrd="2" destOrd="0" presId="urn:microsoft.com/office/officeart/2005/8/layout/StepDownProcess"/>
    <dgm:cxn modelId="{AADECDE7-290F-7146-A62E-A301C79D74AF}" type="presParOf" srcId="{EC306989-BCC4-E341-86FA-0A1A6D7044E7}" destId="{46F8E730-CC29-354D-86FE-A678C82736CE}" srcOrd="0" destOrd="0" presId="urn:microsoft.com/office/officeart/2005/8/layout/StepDownProcess"/>
    <dgm:cxn modelId="{A4BD4A02-A7D5-5B40-8F3B-0021792E81C5}" type="presParOf" srcId="{EC306989-BCC4-E341-86FA-0A1A6D7044E7}" destId="{5FF52C7E-8896-444A-ABE6-24587F637487}" srcOrd="1" destOrd="0" presId="urn:microsoft.com/office/officeart/2005/8/layout/StepDownProcess"/>
    <dgm:cxn modelId="{A1739D89-E05A-4D44-A06F-33624753729C}" type="presParOf" srcId="{EC306989-BCC4-E341-86FA-0A1A6D7044E7}" destId="{FA89C795-246F-2B4C-B427-016C73760830}" srcOrd="2" destOrd="0" presId="urn:microsoft.com/office/officeart/2005/8/layout/StepDownProcess"/>
    <dgm:cxn modelId="{8DB17BEB-532D-D74B-BC8B-C42D00CC853B}" type="presParOf" srcId="{EABD42CC-E261-7648-A54A-B59BEBDE3538}" destId="{7FD1F347-8C93-0449-87B5-07256EAA8E9B}" srcOrd="3" destOrd="0" presId="urn:microsoft.com/office/officeart/2005/8/layout/StepDownProcess"/>
    <dgm:cxn modelId="{AED70744-86F8-C941-8590-8ABFEF25E2B8}" type="presParOf" srcId="{EABD42CC-E261-7648-A54A-B59BEBDE3538}" destId="{6991F568-9A9C-E447-9137-5004B2E598DE}" srcOrd="4" destOrd="0" presId="urn:microsoft.com/office/officeart/2005/8/layout/StepDownProcess"/>
    <dgm:cxn modelId="{4C9D080A-F8B3-8B49-94DC-1B756183B6B6}" type="presParOf" srcId="{6991F568-9A9C-E447-9137-5004B2E598DE}" destId="{F0A7D34B-56ED-6D41-BD2E-ED115AAA679B}" srcOrd="0" destOrd="0" presId="urn:microsoft.com/office/officeart/2005/8/layout/StepDownProcess"/>
    <dgm:cxn modelId="{45503817-FB0B-0E43-A095-C65840B9344F}" type="presParOf" srcId="{6991F568-9A9C-E447-9137-5004B2E598DE}" destId="{C9560C64-AA29-5241-8402-5A4B7EF544A8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C5274-9C48-3448-A475-C99DDF47A3B9}">
      <dsp:nvSpPr>
        <dsp:cNvPr id="0" name=""/>
        <dsp:cNvSpPr/>
      </dsp:nvSpPr>
      <dsp:spPr>
        <a:xfrm>
          <a:off x="0" y="277262"/>
          <a:ext cx="11822261" cy="423521"/>
        </a:xfrm>
        <a:prstGeom prst="roundRect">
          <a:avLst/>
        </a:prstGeom>
        <a:solidFill>
          <a:srgbClr val="CEE6F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rPr>
            <a:t>Apply Bias Corrections — FOODS_1 and FOODS_2</a:t>
          </a:r>
          <a:endParaRPr lang="en-US" sz="2000" b="1" kern="1200" dirty="0">
            <a:solidFill>
              <a:srgbClr val="002060"/>
            </a:solidFill>
          </a:endParaRPr>
        </a:p>
      </dsp:txBody>
      <dsp:txXfrm>
        <a:off x="20675" y="297937"/>
        <a:ext cx="11780911" cy="382171"/>
      </dsp:txXfrm>
    </dsp:sp>
    <dsp:sp modelId="{E5400DB1-B800-EE4A-A841-6E71FF612691}">
      <dsp:nvSpPr>
        <dsp:cNvPr id="0" name=""/>
        <dsp:cNvSpPr/>
      </dsp:nvSpPr>
      <dsp:spPr>
        <a:xfrm>
          <a:off x="0" y="711817"/>
          <a:ext cx="11822261" cy="7250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35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600" kern="12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rPr>
            <a:t>Both departments consistently under-estimate demand. Add +9 units/day to FOODS_1 and +14 units/day to FOODS_2 demand signals before using them as supply plan input. These are systematic gaps, not noise.</a:t>
          </a:r>
        </a:p>
      </dsp:txBody>
      <dsp:txXfrm>
        <a:off x="0" y="711817"/>
        <a:ext cx="11822261" cy="725004"/>
      </dsp:txXfrm>
    </dsp:sp>
    <dsp:sp modelId="{35464804-3964-3A4D-BAA1-AE27F0BFB1E0}">
      <dsp:nvSpPr>
        <dsp:cNvPr id="0" name=""/>
        <dsp:cNvSpPr/>
      </dsp:nvSpPr>
      <dsp:spPr>
        <a:xfrm>
          <a:off x="0" y="1436821"/>
          <a:ext cx="11822261" cy="422610"/>
        </a:xfrm>
        <a:prstGeom prst="roundRect">
          <a:avLst/>
        </a:prstGeom>
        <a:solidFill>
          <a:srgbClr val="CEE6FE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rPr>
            <a:t>Apply Saturday Uplift — FOODS_1</a:t>
          </a:r>
        </a:p>
      </dsp:txBody>
      <dsp:txXfrm>
        <a:off x="20630" y="1457451"/>
        <a:ext cx="11781001" cy="381350"/>
      </dsp:txXfrm>
    </dsp:sp>
    <dsp:sp modelId="{627A6CBF-AEF6-FC4E-8E61-C9CA17C48911}">
      <dsp:nvSpPr>
        <dsp:cNvPr id="0" name=""/>
        <dsp:cNvSpPr/>
      </dsp:nvSpPr>
      <dsp:spPr>
        <a:xfrm>
          <a:off x="0" y="1859432"/>
          <a:ext cx="11822261" cy="7524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35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600" kern="12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rPr>
            <a:t>The model under-estimates every Saturday for FOODS_1 by 8.1%. Apply a fixed weekend uplift factor to the Saturday demand signal before cross-checking with inventory.</a:t>
          </a:r>
        </a:p>
      </dsp:txBody>
      <dsp:txXfrm>
        <a:off x="0" y="1859432"/>
        <a:ext cx="11822261" cy="752433"/>
      </dsp:txXfrm>
    </dsp:sp>
    <dsp:sp modelId="{3BAC223B-47D6-8A45-A716-CA623E5A73EC}">
      <dsp:nvSpPr>
        <dsp:cNvPr id="0" name=""/>
        <dsp:cNvSpPr/>
      </dsp:nvSpPr>
      <dsp:spPr>
        <a:xfrm>
          <a:off x="0" y="2611866"/>
          <a:ext cx="11822261" cy="418381"/>
        </a:xfrm>
        <a:prstGeom prst="roundRect">
          <a:avLst/>
        </a:prstGeom>
        <a:solidFill>
          <a:srgbClr val="CEE6FE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rPr>
            <a:t>Override FOODS_3 Event Day Forecasts Before Supply Planning</a:t>
          </a:r>
        </a:p>
      </dsp:txBody>
      <dsp:txXfrm>
        <a:off x="20424" y="2632290"/>
        <a:ext cx="11781413" cy="377533"/>
      </dsp:txXfrm>
    </dsp:sp>
    <dsp:sp modelId="{B9B8EF99-8BAA-5E46-BEA9-68A6263E8D5E}">
      <dsp:nvSpPr>
        <dsp:cNvPr id="0" name=""/>
        <dsp:cNvSpPr/>
      </dsp:nvSpPr>
      <dsp:spPr>
        <a:xfrm>
          <a:off x="0" y="3030247"/>
          <a:ext cx="11822261" cy="748013"/>
        </a:xfrm>
        <a:prstGeom prst="rect">
          <a:avLst/>
        </a:prstGeom>
        <a:noFill/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35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600" kern="12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rPr>
            <a:t>Event day demand signal for FOODS_3 is unreliable (673% average error). On any week containing a confirmed event, the FOODS_3 signal must be manually reviewed and adjusted by the demand planner before use in supply planning.</a:t>
          </a:r>
        </a:p>
      </dsp:txBody>
      <dsp:txXfrm>
        <a:off x="0" y="3030247"/>
        <a:ext cx="11822261" cy="748013"/>
      </dsp:txXfrm>
    </dsp:sp>
    <dsp:sp modelId="{ADE1DFAD-17F7-334D-B52A-54B0B640708F}">
      <dsp:nvSpPr>
        <dsp:cNvPr id="0" name=""/>
        <dsp:cNvSpPr/>
      </dsp:nvSpPr>
      <dsp:spPr>
        <a:xfrm>
          <a:off x="0" y="3778261"/>
          <a:ext cx="11822261" cy="430146"/>
        </a:xfrm>
        <a:prstGeom prst="roundRect">
          <a:avLst/>
        </a:prstGeom>
        <a:solidFill>
          <a:srgbClr val="CEE6FE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rPr>
            <a:t>Flag FOODS_3 Friday Demand Signals</a:t>
          </a:r>
        </a:p>
      </dsp:txBody>
      <dsp:txXfrm>
        <a:off x="20998" y="3799259"/>
        <a:ext cx="11780265" cy="388150"/>
      </dsp:txXfrm>
    </dsp:sp>
    <dsp:sp modelId="{9ACEE60B-555B-5F4D-9F9D-B2E9798356A4}">
      <dsp:nvSpPr>
        <dsp:cNvPr id="0" name=""/>
        <dsp:cNvSpPr/>
      </dsp:nvSpPr>
      <dsp:spPr>
        <a:xfrm>
          <a:off x="0" y="4208408"/>
          <a:ext cx="11822261" cy="738475"/>
        </a:xfrm>
        <a:prstGeom prst="rect">
          <a:avLst/>
        </a:prstGeom>
        <a:noFill/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600" kern="12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rPr>
            <a:t>Friday demand signal for FOODS_3 shows 363% average error. Flag for mandatory planner sign-off before any Friday-driven supply plan is released.</a:t>
          </a:r>
        </a:p>
      </dsp:txBody>
      <dsp:txXfrm>
        <a:off x="0" y="4208408"/>
        <a:ext cx="11822261" cy="738475"/>
      </dsp:txXfrm>
    </dsp:sp>
    <dsp:sp modelId="{7ED554A7-97EA-1D43-95A0-E7CC2FD6F91F}">
      <dsp:nvSpPr>
        <dsp:cNvPr id="0" name=""/>
        <dsp:cNvSpPr/>
      </dsp:nvSpPr>
      <dsp:spPr>
        <a:xfrm>
          <a:off x="0" y="4946883"/>
          <a:ext cx="11822261" cy="428517"/>
        </a:xfrm>
        <a:prstGeom prst="roundRect">
          <a:avLst/>
        </a:prstGeom>
        <a:solidFill>
          <a:srgbClr val="CEE6FE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rgbClr val="002060"/>
              </a:solidFill>
              <a:latin typeface="Instrument Sans Semi Bold" pitchFamily="34" charset="0"/>
              <a:ea typeface="Instrument Sans Semi Bold" pitchFamily="34" charset="-122"/>
              <a:cs typeface="Instrument Sans Semi Bold" pitchFamily="34" charset="-120"/>
            </a:rPr>
            <a:t>Design SKU-Level Demand Split for Ordering</a:t>
          </a:r>
        </a:p>
      </dsp:txBody>
      <dsp:txXfrm>
        <a:off x="20918" y="4967801"/>
        <a:ext cx="11780425" cy="386681"/>
      </dsp:txXfrm>
    </dsp:sp>
    <dsp:sp modelId="{6949DDAF-4F36-7B49-81C9-3857A31D8865}">
      <dsp:nvSpPr>
        <dsp:cNvPr id="0" name=""/>
        <dsp:cNvSpPr/>
      </dsp:nvSpPr>
      <dsp:spPr>
        <a:xfrm>
          <a:off x="0" y="5375400"/>
          <a:ext cx="11822261" cy="676559"/>
        </a:xfrm>
        <a:prstGeom prst="rect">
          <a:avLst/>
        </a:prstGeom>
        <a:noFill/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5357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600" kern="1200" dirty="0">
              <a:solidFill>
                <a:srgbClr val="1E3063"/>
              </a:solidFill>
              <a:latin typeface="Instrument Sans Medium" pitchFamily="34" charset="0"/>
              <a:ea typeface="Instrument Sans Medium" pitchFamily="34" charset="-122"/>
              <a:cs typeface="Instrument Sans Medium" pitchFamily="34" charset="-120"/>
            </a:rPr>
            <a:t>The signal covers department totals. Before translating to a purchase order, split using each item's daily contribution % (3–6 months rolling). Phase-in items inherit the outgoing item's contribution. New items use analogue from a similar active product.</a:t>
          </a:r>
        </a:p>
      </dsp:txBody>
      <dsp:txXfrm>
        <a:off x="0" y="5375400"/>
        <a:ext cx="11822261" cy="6765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F1C338-8645-1D4A-83C1-4540D70905BC}">
      <dsp:nvSpPr>
        <dsp:cNvPr id="0" name=""/>
        <dsp:cNvSpPr/>
      </dsp:nvSpPr>
      <dsp:spPr>
        <a:xfrm rot="5400000">
          <a:off x="259811" y="1845172"/>
          <a:ext cx="709372" cy="541831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rgbClr val="CEE6F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77C011-FBD5-8F49-AE8F-6865E38CCC3D}">
      <dsp:nvSpPr>
        <dsp:cNvPr id="0" name=""/>
        <dsp:cNvSpPr/>
      </dsp:nvSpPr>
      <dsp:spPr>
        <a:xfrm>
          <a:off x="29142" y="923879"/>
          <a:ext cx="844318" cy="665856"/>
        </a:xfrm>
        <a:prstGeom prst="roundRect">
          <a:avLst>
            <a:gd name="adj" fmla="val 16670"/>
          </a:avLst>
        </a:prstGeom>
        <a:solidFill>
          <a:srgbClr val="CEE6FD"/>
        </a:solidFill>
        <a:ln w="127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none" kern="1200" dirty="0">
              <a:solidFill>
                <a:srgbClr val="002060"/>
              </a:solidFill>
              <a:latin typeface="+mn-lt"/>
              <a:ea typeface="+mn-ea"/>
              <a:cs typeface="+mn-cs"/>
            </a:rPr>
            <a:t>Week 1-2</a:t>
          </a:r>
        </a:p>
      </dsp:txBody>
      <dsp:txXfrm>
        <a:off x="61652" y="956389"/>
        <a:ext cx="779298" cy="600836"/>
      </dsp:txXfrm>
    </dsp:sp>
    <dsp:sp modelId="{89A3C671-4806-FC4A-9146-4FF185CC75F5}">
      <dsp:nvSpPr>
        <dsp:cNvPr id="0" name=""/>
        <dsp:cNvSpPr/>
      </dsp:nvSpPr>
      <dsp:spPr>
        <a:xfrm>
          <a:off x="891236" y="833953"/>
          <a:ext cx="3635043" cy="897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Apply Bias corrections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Saturday uplift for FOODS_1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Flag FOODS_3 event/Friday for override</a:t>
          </a:r>
        </a:p>
      </dsp:txBody>
      <dsp:txXfrm>
        <a:off x="891236" y="833953"/>
        <a:ext cx="3635043" cy="897046"/>
      </dsp:txXfrm>
    </dsp:sp>
    <dsp:sp modelId="{46F8E730-CC29-354D-86FE-A678C82736CE}">
      <dsp:nvSpPr>
        <dsp:cNvPr id="0" name=""/>
        <dsp:cNvSpPr/>
      </dsp:nvSpPr>
      <dsp:spPr>
        <a:xfrm rot="5400000">
          <a:off x="1217858" y="2994652"/>
          <a:ext cx="762420" cy="60666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rgbClr val="CEE6FE"/>
        </a:solidFill>
        <a:ln w="12700" cap="flat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F52C7E-8896-444A-ABE6-24587F637487}">
      <dsp:nvSpPr>
        <dsp:cNvPr id="0" name=""/>
        <dsp:cNvSpPr/>
      </dsp:nvSpPr>
      <dsp:spPr>
        <a:xfrm>
          <a:off x="948887" y="1981823"/>
          <a:ext cx="950363" cy="721394"/>
        </a:xfrm>
        <a:prstGeom prst="roundRect">
          <a:avLst>
            <a:gd name="adj" fmla="val 16670"/>
          </a:avLst>
        </a:prstGeom>
        <a:solidFill>
          <a:srgbClr val="CEE6FD"/>
        </a:solidFill>
        <a:ln w="127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none" kern="1200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Month 1-2</a:t>
          </a:r>
        </a:p>
      </dsp:txBody>
      <dsp:txXfrm>
        <a:off x="984109" y="2017045"/>
        <a:ext cx="879919" cy="650950"/>
      </dsp:txXfrm>
    </dsp:sp>
    <dsp:sp modelId="{FA89C795-246F-2B4C-B427-016C73760830}">
      <dsp:nvSpPr>
        <dsp:cNvPr id="0" name=""/>
        <dsp:cNvSpPr/>
      </dsp:nvSpPr>
      <dsp:spPr>
        <a:xfrm>
          <a:off x="2051618" y="1906510"/>
          <a:ext cx="3881209" cy="897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Design SKU daily contribution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Item fill rate monitoring dashboard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Document phase-in / phase-out rules</a:t>
          </a:r>
        </a:p>
      </dsp:txBody>
      <dsp:txXfrm>
        <a:off x="2051618" y="1906510"/>
        <a:ext cx="3881209" cy="897046"/>
      </dsp:txXfrm>
    </dsp:sp>
    <dsp:sp modelId="{F0A7D34B-56ED-6D41-BD2E-ED115AAA679B}">
      <dsp:nvSpPr>
        <dsp:cNvPr id="0" name=""/>
        <dsp:cNvSpPr/>
      </dsp:nvSpPr>
      <dsp:spPr>
        <a:xfrm>
          <a:off x="2011133" y="3202477"/>
          <a:ext cx="1012693" cy="662404"/>
        </a:xfrm>
        <a:prstGeom prst="roundRect">
          <a:avLst>
            <a:gd name="adj" fmla="val 16670"/>
          </a:avLst>
        </a:prstGeom>
        <a:solidFill>
          <a:srgbClr val="CEE6FD"/>
        </a:solidFill>
        <a:ln w="12700" cap="flat" cmpd="sng" algn="ctr">
          <a:solidFill>
            <a:srgbClr val="00206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0" anchor="ctr" anchorCtr="0">
          <a:noAutofit/>
        </a:bodyPr>
        <a:lstStyle/>
        <a:p>
          <a:pPr marL="0" lvl="0" indent="0" algn="ctr" defTabSz="914400" rtl="0" eaLnBrk="1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u="none" kern="1200" dirty="0">
              <a:solidFill>
                <a:srgbClr val="002060"/>
              </a:solidFill>
              <a:latin typeface="Calibri" panose="020F0502020204030204"/>
              <a:ea typeface="+mn-ea"/>
              <a:cs typeface="+mn-cs"/>
            </a:rPr>
            <a:t>Month 2-4</a:t>
          </a:r>
        </a:p>
      </dsp:txBody>
      <dsp:txXfrm>
        <a:off x="2043475" y="3234819"/>
        <a:ext cx="948009" cy="597720"/>
      </dsp:txXfrm>
    </dsp:sp>
    <dsp:sp modelId="{C9560C64-AA29-5241-8402-5A4B7EF544A8}">
      <dsp:nvSpPr>
        <dsp:cNvPr id="0" name=""/>
        <dsp:cNvSpPr/>
      </dsp:nvSpPr>
      <dsp:spPr>
        <a:xfrm>
          <a:off x="3188201" y="3067460"/>
          <a:ext cx="3205735" cy="8970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Weekly model refitting cadence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Event override rule library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kern="1200" dirty="0">
              <a:solidFill>
                <a:srgbClr val="1E3063"/>
              </a:solidFill>
              <a:latin typeface="Instrument Sans Medium" pitchFamily="34" charset="0"/>
              <a:ea typeface="+mn-ea"/>
              <a:cs typeface="+mn-cs"/>
            </a:rPr>
            <a:t>Extend to other Walmart stores</a:t>
          </a:r>
        </a:p>
      </dsp:txBody>
      <dsp:txXfrm>
        <a:off x="3188201" y="3067460"/>
        <a:ext cx="3205735" cy="8970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3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15579-66FC-F327-263C-4ACC5F9C9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ED584-D662-799B-4AC9-DAA0EE49B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C0C93-9FF0-5199-6C97-8190187B2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C2AB6-0A01-2BCD-3D4B-927D48BE35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910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DFE68-D156-2632-5FD4-E94B2DB95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52FC4-EE13-6976-BC63-6DC5A702AC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92695-2C08-C0A1-29CB-8C073BD882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3EC0A-1741-EC15-9334-337314A218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11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A7765-487E-A368-768F-61C98412F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ACF7F-816C-7779-8979-37C55A075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E99131-DDC3-EE24-3942-AC51030DE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61835-EFB8-5829-E74E-0E13AE104C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19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95EB1-E27C-4399-EAFF-72C085BC2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F8B8E2-D280-59E1-6532-EC9CC5A3C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8AA76-DE07-5638-53E3-35E657ABC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426F4-08BA-9153-7403-D7D76291A6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1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E4FB0-709E-937A-C193-3E1244552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11540-4804-6CBB-CFEE-2BE5E4C75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F1696-AFFF-F98C-E7ED-7FBF6E6AEF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649D0-DD24-6255-4694-BD38E753E6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912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8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2239"/>
            <a:ext cx="115863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Smarter Food Forecasting at Walmart CA_3</a:t>
            </a:r>
            <a:endParaRPr lang="en-US" sz="4450" b="1" dirty="0"/>
          </a:p>
        </p:txBody>
      </p:sp>
      <p:sp>
        <p:nvSpPr>
          <p:cNvPr id="3" name="Text 1"/>
          <p:cNvSpPr/>
          <p:nvPr/>
        </p:nvSpPr>
        <p:spPr>
          <a:xfrm>
            <a:off x="793790" y="1571744"/>
            <a:ext cx="130428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Using Machine Learning to Improve Daily Demand Accuracy</a:t>
            </a:r>
          </a:p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and Reduce Inventory Risk in the FOODS Category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27624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Executive Presentation | For Business Stakeholders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492677" y="70944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Julius Lauren Marasigan | Post-Graduate Diploma in Artificial Intelligence and Machine Learning | April 2026</a:t>
            </a:r>
            <a:endParaRPr lang="en-US" sz="175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62122EE-D4BC-F9D4-B522-36F53222FF48}"/>
              </a:ext>
            </a:extLst>
          </p:cNvPr>
          <p:cNvGrpSpPr/>
          <p:nvPr/>
        </p:nvGrpSpPr>
        <p:grpSpPr>
          <a:xfrm>
            <a:off x="2499923" y="3432332"/>
            <a:ext cx="9245781" cy="2855870"/>
            <a:chOff x="2499927" y="3352205"/>
            <a:chExt cx="9245781" cy="285587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E281E85-5782-181A-6FE1-603B5155D9DB}"/>
                </a:ext>
              </a:extLst>
            </p:cNvPr>
            <p:cNvGrpSpPr/>
            <p:nvPr/>
          </p:nvGrpSpPr>
          <p:grpSpPr>
            <a:xfrm>
              <a:off x="2499927" y="3352205"/>
              <a:ext cx="9245781" cy="1306949"/>
              <a:chOff x="2499927" y="3352205"/>
              <a:chExt cx="9245781" cy="1306949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02D27C68-64F7-F6A7-CD04-21588C7C6D24}"/>
                  </a:ext>
                </a:extLst>
              </p:cNvPr>
              <p:cNvGrpSpPr/>
              <p:nvPr/>
            </p:nvGrpSpPr>
            <p:grpSpPr>
              <a:xfrm>
                <a:off x="2499927" y="3352205"/>
                <a:ext cx="2930717" cy="1306949"/>
                <a:chOff x="793790" y="3380542"/>
                <a:chExt cx="2930717" cy="1306949"/>
              </a:xfrm>
            </p:grpSpPr>
            <p:sp>
              <p:nvSpPr>
                <p:cNvPr id="5" name="Shape 3"/>
                <p:cNvSpPr/>
                <p:nvPr/>
              </p:nvSpPr>
              <p:spPr>
                <a:xfrm>
                  <a:off x="793790" y="3380542"/>
                  <a:ext cx="2930717" cy="1306949"/>
                </a:xfrm>
                <a:prstGeom prst="roundRect">
                  <a:avLst>
                    <a:gd name="adj" fmla="val 15620"/>
                  </a:avLst>
                </a:prstGeom>
                <a:solidFill>
                  <a:srgbClr val="CEE6FD"/>
                </a:solidFill>
                <a:ln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" name="Text 4"/>
                <p:cNvSpPr/>
                <p:nvPr/>
              </p:nvSpPr>
              <p:spPr>
                <a:xfrm>
                  <a:off x="1330941" y="3474185"/>
                  <a:ext cx="1856410" cy="354330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750"/>
                    </a:lnSpc>
                    <a:buNone/>
                  </a:pPr>
                  <a:r>
                    <a:rPr lang="en-US" dirty="0">
                      <a:solidFill>
                        <a:srgbClr val="1E3063"/>
                      </a:solidFill>
                      <a:latin typeface="Instrument Sans Semi Bold" pitchFamily="34" charset="0"/>
                      <a:ea typeface="Instrument Sans Semi Bold" pitchFamily="34" charset="-122"/>
                      <a:cs typeface="Instrument Sans Semi Bold" pitchFamily="34" charset="-120"/>
                    </a:rPr>
                    <a:t>Store Scope</a:t>
                  </a:r>
                  <a:endParaRPr lang="en-US" dirty="0"/>
                </a:p>
              </p:txBody>
            </p:sp>
            <p:sp>
              <p:nvSpPr>
                <p:cNvPr id="7" name="Text 5"/>
                <p:cNvSpPr/>
                <p:nvPr/>
              </p:nvSpPr>
              <p:spPr>
                <a:xfrm>
                  <a:off x="1548390" y="4070487"/>
                  <a:ext cx="1421513" cy="362903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850"/>
                    </a:lnSpc>
                    <a:buNone/>
                  </a:pPr>
                  <a:r>
                    <a:rPr lang="en-US" sz="28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CA_3</a:t>
                  </a:r>
                  <a:endParaRPr lang="en-US" sz="2800" dirty="0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58637E5-F9BD-49F6-DDA2-D5D9F3B88084}"/>
                  </a:ext>
                </a:extLst>
              </p:cNvPr>
              <p:cNvGrpSpPr/>
              <p:nvPr/>
            </p:nvGrpSpPr>
            <p:grpSpPr>
              <a:xfrm>
                <a:off x="5657459" y="3352205"/>
                <a:ext cx="2930717" cy="1306949"/>
                <a:chOff x="793790" y="3380542"/>
                <a:chExt cx="2930717" cy="1306949"/>
              </a:xfrm>
            </p:grpSpPr>
            <p:sp>
              <p:nvSpPr>
                <p:cNvPr id="25" name="Shape 3">
                  <a:extLst>
                    <a:ext uri="{FF2B5EF4-FFF2-40B4-BE49-F238E27FC236}">
                      <a16:creationId xmlns:a16="http://schemas.microsoft.com/office/drawing/2014/main" id="{80A66527-6599-7571-D92B-C20F8549803C}"/>
                    </a:ext>
                  </a:extLst>
                </p:cNvPr>
                <p:cNvSpPr/>
                <p:nvPr/>
              </p:nvSpPr>
              <p:spPr>
                <a:xfrm>
                  <a:off x="793790" y="3380542"/>
                  <a:ext cx="2930717" cy="1306949"/>
                </a:xfrm>
                <a:prstGeom prst="roundRect">
                  <a:avLst>
                    <a:gd name="adj" fmla="val 15620"/>
                  </a:avLst>
                </a:prstGeom>
                <a:solidFill>
                  <a:srgbClr val="CEE6FD"/>
                </a:solidFill>
                <a:ln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Text 4">
                  <a:extLst>
                    <a:ext uri="{FF2B5EF4-FFF2-40B4-BE49-F238E27FC236}">
                      <a16:creationId xmlns:a16="http://schemas.microsoft.com/office/drawing/2014/main" id="{E350B7EC-75D6-7DCF-F111-7439ED5184A5}"/>
                    </a:ext>
                  </a:extLst>
                </p:cNvPr>
                <p:cNvSpPr/>
                <p:nvPr/>
              </p:nvSpPr>
              <p:spPr>
                <a:xfrm>
                  <a:off x="1330941" y="3474185"/>
                  <a:ext cx="1856410" cy="354330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750"/>
                    </a:lnSpc>
                    <a:buNone/>
                  </a:pPr>
                  <a:r>
                    <a:rPr lang="en-US" dirty="0">
                      <a:solidFill>
                        <a:srgbClr val="1E3063"/>
                      </a:solidFill>
                      <a:latin typeface="Instrument Sans Semi Bold" pitchFamily="34" charset="0"/>
                      <a:ea typeface="Instrument Sans Semi Bold" pitchFamily="34" charset="-122"/>
                      <a:cs typeface="Instrument Sans Semi Bold" pitchFamily="34" charset="-120"/>
                    </a:rPr>
                    <a:t>Category</a:t>
                  </a:r>
                  <a:endParaRPr lang="en-US" dirty="0"/>
                </a:p>
              </p:txBody>
            </p:sp>
            <p:sp>
              <p:nvSpPr>
                <p:cNvPr id="27" name="Text 5">
                  <a:extLst>
                    <a:ext uri="{FF2B5EF4-FFF2-40B4-BE49-F238E27FC236}">
                      <a16:creationId xmlns:a16="http://schemas.microsoft.com/office/drawing/2014/main" id="{03D2153C-34DA-FC3F-23FE-0D707F94D977}"/>
                    </a:ext>
                  </a:extLst>
                </p:cNvPr>
                <p:cNvSpPr/>
                <p:nvPr/>
              </p:nvSpPr>
              <p:spPr>
                <a:xfrm>
                  <a:off x="1548390" y="4070487"/>
                  <a:ext cx="1421513" cy="362903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850"/>
                    </a:lnSpc>
                    <a:buNone/>
                  </a:pPr>
                  <a:r>
                    <a:rPr lang="en-US" sz="28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FOODS</a:t>
                  </a:r>
                  <a:endParaRPr lang="en-US" sz="2800" dirty="0"/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50E73AA-F3B3-69B4-A40C-65D914257651}"/>
                  </a:ext>
                </a:extLst>
              </p:cNvPr>
              <p:cNvGrpSpPr/>
              <p:nvPr/>
            </p:nvGrpSpPr>
            <p:grpSpPr>
              <a:xfrm>
                <a:off x="8814991" y="3352205"/>
                <a:ext cx="2930717" cy="1306949"/>
                <a:chOff x="793790" y="3380542"/>
                <a:chExt cx="2930717" cy="1306949"/>
              </a:xfrm>
            </p:grpSpPr>
            <p:sp>
              <p:nvSpPr>
                <p:cNvPr id="29" name="Shape 3">
                  <a:extLst>
                    <a:ext uri="{FF2B5EF4-FFF2-40B4-BE49-F238E27FC236}">
                      <a16:creationId xmlns:a16="http://schemas.microsoft.com/office/drawing/2014/main" id="{E7D57362-E836-B152-F6A1-3F7372C5C1B1}"/>
                    </a:ext>
                  </a:extLst>
                </p:cNvPr>
                <p:cNvSpPr/>
                <p:nvPr/>
              </p:nvSpPr>
              <p:spPr>
                <a:xfrm>
                  <a:off x="793790" y="3380542"/>
                  <a:ext cx="2930717" cy="1306949"/>
                </a:xfrm>
                <a:prstGeom prst="roundRect">
                  <a:avLst>
                    <a:gd name="adj" fmla="val 15620"/>
                  </a:avLst>
                </a:prstGeom>
                <a:solidFill>
                  <a:srgbClr val="CEE6FD"/>
                </a:solidFill>
                <a:ln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Text 4">
                  <a:extLst>
                    <a:ext uri="{FF2B5EF4-FFF2-40B4-BE49-F238E27FC236}">
                      <a16:creationId xmlns:a16="http://schemas.microsoft.com/office/drawing/2014/main" id="{B4765E89-E2B8-DF9B-3D1F-B531BA3F5F0D}"/>
                    </a:ext>
                  </a:extLst>
                </p:cNvPr>
                <p:cNvSpPr/>
                <p:nvPr/>
              </p:nvSpPr>
              <p:spPr>
                <a:xfrm>
                  <a:off x="1330943" y="3470802"/>
                  <a:ext cx="1856410" cy="354330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750"/>
                    </a:lnSpc>
                    <a:buNone/>
                  </a:pPr>
                  <a:r>
                    <a:rPr lang="en-US" dirty="0">
                      <a:solidFill>
                        <a:srgbClr val="1E3063"/>
                      </a:solidFill>
                      <a:latin typeface="Instrument Sans Semi Bold" pitchFamily="34" charset="0"/>
                      <a:ea typeface="Instrument Sans Semi Bold" pitchFamily="34" charset="-122"/>
                      <a:cs typeface="Instrument Sans Semi Bold" pitchFamily="34" charset="-120"/>
                    </a:rPr>
                    <a:t>Departments</a:t>
                  </a:r>
                  <a:endParaRPr lang="en-US" dirty="0"/>
                </a:p>
              </p:txBody>
            </p:sp>
            <p:sp>
              <p:nvSpPr>
                <p:cNvPr id="31" name="Text 5">
                  <a:extLst>
                    <a:ext uri="{FF2B5EF4-FFF2-40B4-BE49-F238E27FC236}">
                      <a16:creationId xmlns:a16="http://schemas.microsoft.com/office/drawing/2014/main" id="{2D59216D-20FD-C94F-D68D-86D5346ABDB5}"/>
                    </a:ext>
                  </a:extLst>
                </p:cNvPr>
                <p:cNvSpPr/>
                <p:nvPr/>
              </p:nvSpPr>
              <p:spPr>
                <a:xfrm>
                  <a:off x="841530" y="3879679"/>
                  <a:ext cx="2835235" cy="704347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algn="ctr">
                    <a:lnSpc>
                      <a:spcPts val="2850"/>
                    </a:lnSpc>
                  </a:pPr>
                  <a:r>
                    <a:rPr lang="en-US" sz="20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FOODS_1 | FOODS_2 |   </a:t>
                  </a:r>
                </a:p>
                <a:p>
                  <a:pPr algn="ctr">
                    <a:lnSpc>
                      <a:spcPts val="2850"/>
                    </a:lnSpc>
                  </a:pPr>
                  <a:r>
                    <a:rPr lang="en-US" sz="20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FOODS_3</a:t>
                  </a:r>
                  <a:endParaRPr lang="en-US" sz="2000" dirty="0"/>
                </a:p>
                <a:p>
                  <a:pPr marL="0" indent="0" algn="ctr">
                    <a:lnSpc>
                      <a:spcPts val="2850"/>
                    </a:lnSpc>
                    <a:buNone/>
                  </a:pPr>
                  <a:r>
                    <a:rPr lang="en-US" sz="20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 </a:t>
                  </a:r>
                  <a:endParaRPr lang="en-US" sz="2000" dirty="0"/>
                </a:p>
              </p:txBody>
            </p:sp>
          </p:grp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4374EF7F-10FB-DD69-9A00-6E42977B9268}"/>
                </a:ext>
              </a:extLst>
            </p:cNvPr>
            <p:cNvGrpSpPr/>
            <p:nvPr/>
          </p:nvGrpSpPr>
          <p:grpSpPr>
            <a:xfrm>
              <a:off x="4083375" y="4901126"/>
              <a:ext cx="6078878" cy="1306949"/>
              <a:chOff x="4115907" y="4914304"/>
              <a:chExt cx="6078878" cy="1306949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1C19F8DC-D8FB-C1E7-1841-B351C9E39162}"/>
                  </a:ext>
                </a:extLst>
              </p:cNvPr>
              <p:cNvGrpSpPr/>
              <p:nvPr/>
            </p:nvGrpSpPr>
            <p:grpSpPr>
              <a:xfrm>
                <a:off x="4115907" y="4914304"/>
                <a:ext cx="2930717" cy="1306949"/>
                <a:chOff x="793790" y="3380542"/>
                <a:chExt cx="2930717" cy="1306949"/>
              </a:xfrm>
            </p:grpSpPr>
            <p:sp>
              <p:nvSpPr>
                <p:cNvPr id="33" name="Shape 3">
                  <a:extLst>
                    <a:ext uri="{FF2B5EF4-FFF2-40B4-BE49-F238E27FC236}">
                      <a16:creationId xmlns:a16="http://schemas.microsoft.com/office/drawing/2014/main" id="{F4F4D2B3-7756-7901-B119-CC02F4747234}"/>
                    </a:ext>
                  </a:extLst>
                </p:cNvPr>
                <p:cNvSpPr/>
                <p:nvPr/>
              </p:nvSpPr>
              <p:spPr>
                <a:xfrm>
                  <a:off x="793790" y="3380542"/>
                  <a:ext cx="2930717" cy="1306949"/>
                </a:xfrm>
                <a:prstGeom prst="roundRect">
                  <a:avLst>
                    <a:gd name="adj" fmla="val 15620"/>
                  </a:avLst>
                </a:prstGeom>
                <a:solidFill>
                  <a:srgbClr val="CEE6FD"/>
                </a:solidFill>
                <a:ln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Text 4">
                  <a:extLst>
                    <a:ext uri="{FF2B5EF4-FFF2-40B4-BE49-F238E27FC236}">
                      <a16:creationId xmlns:a16="http://schemas.microsoft.com/office/drawing/2014/main" id="{F1BCB89E-1BAF-923D-2AA4-7B726F84DBC7}"/>
                    </a:ext>
                  </a:extLst>
                </p:cNvPr>
                <p:cNvSpPr/>
                <p:nvPr/>
              </p:nvSpPr>
              <p:spPr>
                <a:xfrm>
                  <a:off x="1330941" y="3474185"/>
                  <a:ext cx="1856410" cy="354330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750"/>
                    </a:lnSpc>
                    <a:buNone/>
                  </a:pPr>
                  <a:r>
                    <a:rPr lang="en-US" dirty="0">
                      <a:solidFill>
                        <a:srgbClr val="1E3063"/>
                      </a:solidFill>
                      <a:latin typeface="Instrument Sans Semi Bold" pitchFamily="34" charset="0"/>
                      <a:ea typeface="Instrument Sans Semi Bold" pitchFamily="34" charset="-122"/>
                      <a:cs typeface="Instrument Sans Semi Bold" pitchFamily="34" charset="-120"/>
                    </a:rPr>
                    <a:t>Forecast Horizon</a:t>
                  </a:r>
                  <a:endParaRPr lang="en-US" dirty="0"/>
                </a:p>
              </p:txBody>
            </p:sp>
            <p:sp>
              <p:nvSpPr>
                <p:cNvPr id="35" name="Text 5">
                  <a:extLst>
                    <a:ext uri="{FF2B5EF4-FFF2-40B4-BE49-F238E27FC236}">
                      <a16:creationId xmlns:a16="http://schemas.microsoft.com/office/drawing/2014/main" id="{57567554-EF92-4957-86B3-7E8358E26CEB}"/>
                    </a:ext>
                  </a:extLst>
                </p:cNvPr>
                <p:cNvSpPr/>
                <p:nvPr/>
              </p:nvSpPr>
              <p:spPr>
                <a:xfrm>
                  <a:off x="1548390" y="4070487"/>
                  <a:ext cx="1421513" cy="362903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850"/>
                    </a:lnSpc>
                    <a:buNone/>
                  </a:pPr>
                  <a:r>
                    <a:rPr lang="en-US" sz="28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28 Days Daily</a:t>
                  </a:r>
                  <a:endParaRPr lang="en-US" sz="2800" dirty="0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E82AD20B-09B5-476B-1710-8A2EF13387DF}"/>
                  </a:ext>
                </a:extLst>
              </p:cNvPr>
              <p:cNvGrpSpPr/>
              <p:nvPr/>
            </p:nvGrpSpPr>
            <p:grpSpPr>
              <a:xfrm>
                <a:off x="7264068" y="4914304"/>
                <a:ext cx="2930717" cy="1306949"/>
                <a:chOff x="793790" y="3380542"/>
                <a:chExt cx="2930717" cy="1306949"/>
              </a:xfrm>
            </p:grpSpPr>
            <p:sp>
              <p:nvSpPr>
                <p:cNvPr id="37" name="Shape 3">
                  <a:extLst>
                    <a:ext uri="{FF2B5EF4-FFF2-40B4-BE49-F238E27FC236}">
                      <a16:creationId xmlns:a16="http://schemas.microsoft.com/office/drawing/2014/main" id="{D1C9D8F3-91BA-D232-D6FC-666AEA9D60FE}"/>
                    </a:ext>
                  </a:extLst>
                </p:cNvPr>
                <p:cNvSpPr/>
                <p:nvPr/>
              </p:nvSpPr>
              <p:spPr>
                <a:xfrm>
                  <a:off x="793790" y="3380542"/>
                  <a:ext cx="2930717" cy="1306949"/>
                </a:xfrm>
                <a:prstGeom prst="roundRect">
                  <a:avLst>
                    <a:gd name="adj" fmla="val 15620"/>
                  </a:avLst>
                </a:prstGeom>
                <a:solidFill>
                  <a:srgbClr val="CEE6FD"/>
                </a:solidFill>
                <a:ln>
                  <a:solidFill>
                    <a:srgbClr val="002060"/>
                  </a:solidFill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" name="Text 4">
                  <a:extLst>
                    <a:ext uri="{FF2B5EF4-FFF2-40B4-BE49-F238E27FC236}">
                      <a16:creationId xmlns:a16="http://schemas.microsoft.com/office/drawing/2014/main" id="{E2B0EB65-9859-C8C8-E2BA-C97815FCF033}"/>
                    </a:ext>
                  </a:extLst>
                </p:cNvPr>
                <p:cNvSpPr/>
                <p:nvPr/>
              </p:nvSpPr>
              <p:spPr>
                <a:xfrm>
                  <a:off x="1330941" y="3474185"/>
                  <a:ext cx="1856410" cy="354330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750"/>
                    </a:lnSpc>
                    <a:buNone/>
                  </a:pPr>
                  <a:r>
                    <a:rPr lang="en-US" dirty="0">
                      <a:solidFill>
                        <a:srgbClr val="1E3063"/>
                      </a:solidFill>
                      <a:latin typeface="Instrument Sans Semi Bold" pitchFamily="34" charset="0"/>
                    </a:rPr>
                    <a:t>Period</a:t>
                  </a:r>
                  <a:endParaRPr lang="en-US" dirty="0"/>
                </a:p>
              </p:txBody>
            </p:sp>
            <p:sp>
              <p:nvSpPr>
                <p:cNvPr id="39" name="Text 5">
                  <a:extLst>
                    <a:ext uri="{FF2B5EF4-FFF2-40B4-BE49-F238E27FC236}">
                      <a16:creationId xmlns:a16="http://schemas.microsoft.com/office/drawing/2014/main" id="{F2014E92-313D-67D1-BC39-E6A73976E278}"/>
                    </a:ext>
                  </a:extLst>
                </p:cNvPr>
                <p:cNvSpPr/>
                <p:nvPr/>
              </p:nvSpPr>
              <p:spPr>
                <a:xfrm>
                  <a:off x="1548390" y="4070487"/>
                  <a:ext cx="1421513" cy="362903"/>
                </a:xfrm>
                <a:prstGeom prst="rect">
                  <a:avLst/>
                </a:prstGeom>
                <a:noFill/>
                <a:ln/>
              </p:spPr>
              <p:txBody>
                <a:bodyPr wrap="none" lIns="0" tIns="0" rIns="0" bIns="0" rtlCol="0" anchor="t"/>
                <a:lstStyle/>
                <a:p>
                  <a:pPr marL="0" indent="0" algn="ctr">
                    <a:lnSpc>
                      <a:spcPts val="2850"/>
                    </a:lnSpc>
                    <a:buNone/>
                  </a:pPr>
                  <a:r>
                    <a:rPr lang="en-US" sz="2000" b="1" dirty="0">
                      <a:solidFill>
                        <a:srgbClr val="1E3063"/>
                      </a:solidFill>
                      <a:latin typeface="Instrument Sans Medium" pitchFamily="34" charset="0"/>
                      <a:ea typeface="Instrument Sans Medium" pitchFamily="34" charset="-122"/>
                      <a:cs typeface="Instrument Sans Medium" pitchFamily="34" charset="-120"/>
                    </a:rPr>
                    <a:t>Apr 25 – May 22, 2016</a:t>
                  </a:r>
                  <a:endParaRPr lang="en-US" sz="2000" dirty="0"/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1. The Business Problem — Why Getting Food Forecasts Right Matters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AACB1D0-BE1C-1A98-F2CB-274F23A23D16}"/>
              </a:ext>
            </a:extLst>
          </p:cNvPr>
          <p:cNvGrpSpPr/>
          <p:nvPr/>
        </p:nvGrpSpPr>
        <p:grpSpPr>
          <a:xfrm>
            <a:off x="736639" y="1725381"/>
            <a:ext cx="13044846" cy="6009670"/>
            <a:chOff x="679490" y="1669136"/>
            <a:chExt cx="13044846" cy="6009670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DE45868A-4FCD-40F4-A1A0-7EE254B2A8E5}"/>
                </a:ext>
              </a:extLst>
            </p:cNvPr>
            <p:cNvSpPr/>
            <p:nvPr/>
          </p:nvSpPr>
          <p:spPr>
            <a:xfrm>
              <a:off x="679491" y="1673785"/>
              <a:ext cx="6327815" cy="2394109"/>
            </a:xfrm>
            <a:prstGeom prst="roundRect">
              <a:avLst/>
            </a:prstGeom>
            <a:solidFill>
              <a:srgbClr val="CEE6FD"/>
            </a:solidFill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r>
                <a:rPr lang="en-US" sz="2000" b="1" dirty="0">
                  <a:solidFill>
                    <a:srgbClr val="002060"/>
                  </a:solidFill>
                </a:rPr>
                <a:t>The Cost of Getting Wrong</a:t>
              </a:r>
            </a:p>
            <a:p>
              <a:endParaRPr lang="en-US" sz="1600" dirty="0">
                <a:solidFill>
                  <a:srgbClr val="002060"/>
                </a:solidFill>
              </a:endParaRPr>
            </a:p>
            <a:p>
              <a:r>
                <a:rPr lang="en-US" sz="1600" b="1" dirty="0">
                  <a:solidFill>
                    <a:srgbClr val="002060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Over-forecast:</a:t>
              </a:r>
              <a:r>
                <a:rPr lang="en-US" sz="1600" dirty="0">
                  <a:solidFill>
                    <a:srgbClr val="002060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 Perishable food spoils. Every unsold unit is a write-off — there is no markdown recovery for expired food.</a:t>
              </a:r>
            </a:p>
            <a:p>
              <a:endParaRPr lang="en-US" sz="1600" dirty="0">
                <a:solidFill>
                  <a:srgbClr val="002060"/>
                </a:solidFill>
                <a:latin typeface="Instrument Sans Medium" pitchFamily="34" charset="0"/>
              </a:endParaRPr>
            </a:p>
            <a:p>
              <a:r>
                <a:rPr lang="en-US" sz="1600" b="1" dirty="0">
                  <a:solidFill>
                    <a:srgbClr val="002060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Under-forecast:</a:t>
              </a:r>
              <a:r>
                <a:rPr lang="en-US" sz="1600" dirty="0">
                  <a:solidFill>
                    <a:srgbClr val="002060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 Empty shelves cannot be restocked within the same sales window. The customer's need is immediate and the sale is gone permanently.</a:t>
              </a:r>
              <a:endParaRPr 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EFA71A87-EED3-16B7-49AB-953FB2B70299}"/>
                </a:ext>
              </a:extLst>
            </p:cNvPr>
            <p:cNvSpPr/>
            <p:nvPr/>
          </p:nvSpPr>
          <p:spPr>
            <a:xfrm>
              <a:off x="679490" y="4230534"/>
              <a:ext cx="6327815" cy="3448272"/>
            </a:xfrm>
            <a:prstGeom prst="round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pPr>
                <a:lnSpc>
                  <a:spcPts val="1950"/>
                </a:lnSpc>
              </a:pPr>
              <a:r>
                <a:rPr lang="en-US" sz="2000" b="1" dirty="0">
                  <a:solidFill>
                    <a:srgbClr val="091C53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Why Food Demand Is Hard to Predict</a:t>
              </a: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endParaRPr>
            </a:p>
            <a:p>
              <a:pPr>
                <a:lnSpc>
                  <a:spcPts val="1950"/>
                </a:lnSpc>
              </a:pP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Four demand signals fire simultaneously — and a single rule cannot capture all of them at once:</a:t>
              </a: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endParaRPr>
            </a:p>
            <a:p>
              <a:pPr marL="342900" indent="-342900">
                <a:lnSpc>
                  <a:spcPts val="17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SNAP benefit days</a:t>
              </a: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— predictable monthly spikes tied to benefit issuance dates</a:t>
              </a:r>
              <a:endParaRPr lang="en-US" sz="1600" dirty="0"/>
            </a:p>
            <a:p>
              <a:pPr marL="342900" indent="-342900">
                <a:lnSpc>
                  <a:spcPts val="17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Day-of-week patterns</a:t>
              </a: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— weekends consistently differ from mid-week</a:t>
              </a:r>
              <a:endParaRPr lang="en-US" sz="1600" dirty="0"/>
            </a:p>
            <a:p>
              <a:pPr marL="342900" indent="-342900">
                <a:lnSpc>
                  <a:spcPts val="17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Seasonal events</a:t>
              </a: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— holidays and sporting events shift demand by department</a:t>
              </a:r>
              <a:endParaRPr lang="en-US" sz="1600" dirty="0"/>
            </a:p>
            <a:p>
              <a:pPr marL="342900" indent="-342900">
                <a:lnSpc>
                  <a:spcPts val="1700"/>
                </a:lnSpc>
                <a:buSzPct val="100000"/>
                <a:buChar char="•"/>
              </a:pPr>
              <a:r>
                <a:rPr lang="en-US" sz="1600" b="1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Price sensitivity</a:t>
              </a: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— demand reacts to markdowns with a delayed effect</a:t>
              </a:r>
              <a:endParaRPr lang="en-US" sz="1600" dirty="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90B82D41-BAEC-A01D-E88C-4304262778C5}"/>
                </a:ext>
              </a:extLst>
            </p:cNvPr>
            <p:cNvSpPr/>
            <p:nvPr/>
          </p:nvSpPr>
          <p:spPr>
            <a:xfrm>
              <a:off x="7396519" y="1669136"/>
              <a:ext cx="6327816" cy="2078425"/>
            </a:xfrm>
            <a:prstGeom prst="round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pPr>
                <a:lnSpc>
                  <a:spcPts val="1950"/>
                </a:lnSpc>
              </a:pPr>
              <a:r>
                <a:rPr lang="en-US" sz="2000" b="1" dirty="0">
                  <a:solidFill>
                    <a:srgbClr val="091C53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Service Equity — SNAP Customers</a:t>
              </a:r>
              <a:endParaRPr lang="en-US" sz="2000" b="1" dirty="0"/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endParaRPr>
            </a:p>
            <a:p>
              <a:pPr>
                <a:lnSpc>
                  <a:spcPts val="1700"/>
                </a:lnSpc>
              </a:pP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SNAP benefit customers shop on fixed calendar dates each month. If CA_3 shelves are under-stocked on those days, the store fails the most price-sensitive and time-constrained shoppers — precisely when they are most likely to visit. This is not just a business problem — it is a service equity issue.</a:t>
              </a:r>
              <a:endParaRPr lang="en-US" sz="1600" dirty="0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E649477A-BB11-61E7-5E50-D5FE68F511BE}"/>
                </a:ext>
              </a:extLst>
            </p:cNvPr>
            <p:cNvSpPr/>
            <p:nvPr/>
          </p:nvSpPr>
          <p:spPr>
            <a:xfrm>
              <a:off x="7396521" y="3914846"/>
              <a:ext cx="6327815" cy="1807677"/>
            </a:xfrm>
            <a:prstGeom prst="roundRect">
              <a:avLst/>
            </a:prstGeom>
            <a:solidFill>
              <a:srgbClr val="CEE6FD"/>
            </a:solidFill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rgbClr val="002060"/>
                  </a:solidFill>
                </a:rPr>
                <a:t>2  - Direction</a:t>
              </a:r>
            </a:p>
            <a:p>
              <a:pPr algn="ctr"/>
              <a:r>
                <a:rPr lang="en-US" sz="1600" dirty="0">
                  <a:solidFill>
                    <a:srgbClr val="002060"/>
                  </a:solidFill>
                  <a:latin typeface="Instrument Sans Medium" pitchFamily="34" charset="0"/>
                </a:rPr>
                <a:t>Cost of Error</a:t>
              </a:r>
            </a:p>
            <a:p>
              <a:pPr algn="ctr"/>
              <a:endParaRPr lang="en-US" sz="1600" dirty="0">
                <a:solidFill>
                  <a:srgbClr val="002060"/>
                </a:solidFill>
                <a:latin typeface="Instrument Sans Medium" pitchFamily="34" charset="0"/>
              </a:endParaRPr>
            </a:p>
            <a:p>
              <a:r>
                <a:rPr lang="en-US" sz="1600" dirty="0">
                  <a:solidFill>
                    <a:srgbClr val="002060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Both over AND  under-forecasting cost money – waste from spoilage OR lost of sales from empty shelves.</a:t>
              </a:r>
              <a:endParaRPr lang="en-US" sz="1600" b="1" dirty="0">
                <a:solidFill>
                  <a:srgbClr val="002060"/>
                </a:solidFill>
              </a:endParaRP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AACD8650-E47F-5064-3D48-47959AC6B2FD}"/>
                </a:ext>
              </a:extLst>
            </p:cNvPr>
            <p:cNvSpPr/>
            <p:nvPr/>
          </p:nvSpPr>
          <p:spPr>
            <a:xfrm>
              <a:off x="7396519" y="5871129"/>
              <a:ext cx="6327815" cy="1807677"/>
            </a:xfrm>
            <a:prstGeom prst="roundRect">
              <a:avLst/>
            </a:prstGeom>
            <a:noFill/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/>
              <a:r>
                <a:rPr lang="en-US" sz="4400" b="1" dirty="0">
                  <a:solidFill>
                    <a:srgbClr val="002060"/>
                  </a:solidFill>
                </a:rPr>
                <a:t>5+ Years</a:t>
              </a:r>
            </a:p>
            <a:p>
              <a:pPr algn="ctr"/>
              <a:r>
                <a:rPr lang="en-US" sz="1600" dirty="0">
                  <a:solidFill>
                    <a:srgbClr val="002060"/>
                  </a:solidFill>
                  <a:latin typeface="Instrument Sans Medium" pitchFamily="34" charset="0"/>
                </a:rPr>
                <a:t>of daily history used</a:t>
              </a:r>
            </a:p>
            <a:p>
              <a:pPr algn="ctr"/>
              <a:endParaRPr lang="en-US" sz="1600" dirty="0">
                <a:solidFill>
                  <a:srgbClr val="002060"/>
                </a:solidFill>
                <a:latin typeface="Instrument Sans Medium" pitchFamily="34" charset="0"/>
              </a:endParaRPr>
            </a:p>
            <a:p>
              <a:r>
                <a:rPr lang="en-US" sz="1600" dirty="0">
                  <a:solidFill>
                    <a:srgbClr val="002060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1,829 days per department — the model learned from every weekday, SNAP day, event day, and seasonal cycle in the data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8169" y="586586"/>
            <a:ext cx="9447186" cy="446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2. Why CA_3? Why FOODS? — The Data Makes the Case</a:t>
            </a:r>
            <a:endParaRPr lang="en-US" sz="2800" b="1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41A863E2-5710-0A02-058B-05A3CFEEE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95" y="1296698"/>
            <a:ext cx="6689241" cy="4516244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78E5099-DF36-CAE1-2293-2D43D79A6111}"/>
              </a:ext>
            </a:extLst>
          </p:cNvPr>
          <p:cNvSpPr/>
          <p:nvPr/>
        </p:nvSpPr>
        <p:spPr>
          <a:xfrm>
            <a:off x="608168" y="6043384"/>
            <a:ext cx="6182163" cy="917190"/>
          </a:xfrm>
          <a:prstGeom prst="roundRect">
            <a:avLst/>
          </a:prstGeom>
          <a:solidFill>
            <a:srgbClr val="CEE6FD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FOODS_3 dominates department volume (74%) — making it the highest-priority forecasting challenge at CA_3.</a:t>
            </a:r>
            <a:endParaRPr lang="en-US" sz="1600" dirty="0">
              <a:solidFill>
                <a:srgbClr val="002060"/>
              </a:solidFill>
            </a:endParaRPr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77D65729-3DBE-98A0-E7AD-0624E4889F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4091" y="1398814"/>
            <a:ext cx="4397510" cy="3574085"/>
          </a:xfrm>
          <a:prstGeom prst="rect">
            <a:avLst/>
          </a:prstGeom>
        </p:spPr>
      </p:pic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8B11DD9A-90EC-306D-3302-766222E2F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1764" y="5070870"/>
            <a:ext cx="6182163" cy="3002816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AD563E3E-AE84-BA0B-7BC1-A46588B3FDDD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9182" y="603934"/>
            <a:ext cx="13237430" cy="468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800" b="1" dirty="0">
                <a:solidFill>
                  <a:srgbClr val="091C53"/>
                </a:solidFill>
                <a:latin typeface="Instrument Sans Semi Bold" pitchFamily="34" charset="0"/>
              </a:rPr>
              <a:t>3. Our Approach — Training the Model and Testing It Rigorously</a:t>
            </a: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42DC2FAC-ABCF-17FF-CF2E-0FC20A3A0A11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6428F28-474D-3F8C-0530-A10882F0A393}"/>
              </a:ext>
            </a:extLst>
          </p:cNvPr>
          <p:cNvSpPr/>
          <p:nvPr/>
        </p:nvSpPr>
        <p:spPr>
          <a:xfrm>
            <a:off x="793790" y="6630350"/>
            <a:ext cx="13019959" cy="755181"/>
          </a:xfrm>
          <a:prstGeom prst="roundRect">
            <a:avLst/>
          </a:prstGeom>
          <a:solidFill>
            <a:srgbClr val="CEE6FD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pPr>
              <a:lnSpc>
                <a:spcPts val="2200"/>
              </a:lnSpc>
            </a:pPr>
            <a:r>
              <a:rPr lang="en-US" sz="1600" b="1" dirty="0">
                <a:solidFill>
                  <a:srgbClr val="00206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Output:</a:t>
            </a:r>
            <a:r>
              <a:rPr lang="en-US" sz="1600" dirty="0">
                <a:solidFill>
                  <a:srgbClr val="00206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 28-day daily demand signal per department — used as reference for supply plan cross-checking against current on-hand inventory and in-transit stock.</a:t>
            </a:r>
            <a:endParaRPr lang="en-US" sz="1600" dirty="0">
              <a:solidFill>
                <a:srgbClr val="002060"/>
              </a:solidFill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D250EA8-3090-2C39-4179-0A2343A5AE6C}"/>
              </a:ext>
            </a:extLst>
          </p:cNvPr>
          <p:cNvGrpSpPr/>
          <p:nvPr/>
        </p:nvGrpSpPr>
        <p:grpSpPr>
          <a:xfrm>
            <a:off x="599182" y="1225320"/>
            <a:ext cx="13401255" cy="5251679"/>
            <a:chOff x="599182" y="1225320"/>
            <a:chExt cx="13401255" cy="5251679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A2F6A7D5-4E32-5A7C-7E43-E2925EE11402}"/>
                </a:ext>
              </a:extLst>
            </p:cNvPr>
            <p:cNvGrpSpPr/>
            <p:nvPr/>
          </p:nvGrpSpPr>
          <p:grpSpPr>
            <a:xfrm>
              <a:off x="685800" y="2590800"/>
              <a:ext cx="13227928" cy="794657"/>
              <a:chOff x="685800" y="2590800"/>
              <a:chExt cx="13227928" cy="794657"/>
            </a:xfrm>
          </p:grpSpPr>
          <p:sp>
            <p:nvSpPr>
              <p:cNvPr id="35" name="Rounded Rectangle 34">
                <a:extLst>
                  <a:ext uri="{FF2B5EF4-FFF2-40B4-BE49-F238E27FC236}">
                    <a16:creationId xmlns:a16="http://schemas.microsoft.com/office/drawing/2014/main" id="{713EEA52-49B5-C42E-9448-28C3429E64D1}"/>
                  </a:ext>
                </a:extLst>
              </p:cNvPr>
              <p:cNvSpPr/>
              <p:nvPr/>
            </p:nvSpPr>
            <p:spPr>
              <a:xfrm>
                <a:off x="685800" y="2590800"/>
                <a:ext cx="4207787" cy="794657"/>
              </a:xfrm>
              <a:prstGeom prst="roundRect">
                <a:avLst/>
              </a:prstGeom>
              <a:solidFill>
                <a:srgbClr val="CEE6FD"/>
              </a:solidFill>
              <a:ln/>
            </p:spPr>
            <p:txBody>
              <a:bodyPr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Rounded Rectangle 35">
                <a:extLst>
                  <a:ext uri="{FF2B5EF4-FFF2-40B4-BE49-F238E27FC236}">
                    <a16:creationId xmlns:a16="http://schemas.microsoft.com/office/drawing/2014/main" id="{1541EE53-4D7F-2129-730B-FAD4B5CD7772}"/>
                  </a:ext>
                </a:extLst>
              </p:cNvPr>
              <p:cNvSpPr/>
              <p:nvPr/>
            </p:nvSpPr>
            <p:spPr>
              <a:xfrm>
                <a:off x="5202196" y="2590800"/>
                <a:ext cx="4207787" cy="794657"/>
              </a:xfrm>
              <a:prstGeom prst="roundRect">
                <a:avLst/>
              </a:prstGeom>
              <a:solidFill>
                <a:srgbClr val="CEE6FD"/>
              </a:solidFill>
              <a:ln/>
            </p:spPr>
            <p:txBody>
              <a:bodyPr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3D33BCD2-86CA-08E1-C619-8A0D16112099}"/>
                  </a:ext>
                </a:extLst>
              </p:cNvPr>
              <p:cNvSpPr/>
              <p:nvPr/>
            </p:nvSpPr>
            <p:spPr>
              <a:xfrm>
                <a:off x="9705941" y="2590800"/>
                <a:ext cx="4207787" cy="794657"/>
              </a:xfrm>
              <a:prstGeom prst="roundRect">
                <a:avLst/>
              </a:prstGeom>
              <a:solidFill>
                <a:srgbClr val="CEE6FD"/>
              </a:solidFill>
              <a:ln/>
            </p:spPr>
            <p:txBody>
              <a:bodyPr/>
              <a:lstStyle/>
              <a:p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700F4590-CD58-EA97-F500-FD1307563D81}"/>
                </a:ext>
              </a:extLst>
            </p:cNvPr>
            <p:cNvSpPr/>
            <p:nvPr/>
          </p:nvSpPr>
          <p:spPr>
            <a:xfrm>
              <a:off x="599182" y="1262742"/>
              <a:ext cx="4381203" cy="5214257"/>
            </a:xfrm>
            <a:prstGeom prst="roundRect">
              <a:avLst>
                <a:gd name="adj" fmla="val 6232"/>
              </a:avLst>
            </a:prstGeom>
            <a:noFill/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r>
                <a:rPr lang="en-US" sz="2200" b="1" dirty="0">
                  <a:solidFill>
                    <a:srgbClr val="091C53"/>
                  </a:solidFill>
                  <a:latin typeface="Instrument Sans Semi Bold" pitchFamily="34" charset="0"/>
                </a:rPr>
                <a:t>1 - Scope to Highest Impact</a:t>
              </a:r>
            </a:p>
            <a:p>
              <a:pPr>
                <a:lnSpc>
                  <a:spcPts val="1950"/>
                </a:lnSpc>
              </a:pPr>
              <a:r>
                <a:rPr lang="en-US" sz="1600" dirty="0">
                  <a:solidFill>
                    <a:srgbClr val="091C53"/>
                  </a:solidFill>
                  <a:latin typeface="Instrument Sans Semi Bold" pitchFamily="34" charset="0"/>
                </a:rPr>
                <a:t> </a:t>
              </a: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marL="342900" indent="-342900">
                <a:lnSpc>
                  <a:spcPts val="1950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91C53"/>
                  </a:solidFill>
                  <a:latin typeface="Instrument Sans Semi Bold" pitchFamily="34" charset="0"/>
                </a:rPr>
                <a:t>CA_3 is the #1 revenue store. </a:t>
              </a:r>
            </a:p>
            <a:p>
              <a:pPr marL="342900" indent="-342900">
                <a:lnSpc>
                  <a:spcPts val="1950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91C53"/>
                  </a:solidFill>
                  <a:latin typeface="Instrument Sans Semi Bold" pitchFamily="34" charset="0"/>
                </a:rPr>
                <a:t>FOODS is the #1 category. </a:t>
              </a:r>
            </a:p>
            <a:p>
              <a:pPr marL="342900" indent="-342900">
                <a:lnSpc>
                  <a:spcPts val="1950"/>
                </a:lnSpc>
                <a:buFont typeface="Arial" panose="020B0604020202020204" pitchFamily="34" charset="0"/>
                <a:buChar char="•"/>
              </a:pPr>
              <a:r>
                <a:rPr lang="en-US" sz="1600" dirty="0">
                  <a:solidFill>
                    <a:srgbClr val="091C53"/>
                  </a:solidFill>
                  <a:latin typeface="Instrument Sans Semi Bold" pitchFamily="34" charset="0"/>
                </a:rPr>
                <a:t>Three departments modeled separately — FOODS_1, FOODS_2, and FOODS_3 — because each has a different demand structure and scale.</a:t>
              </a: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F43832BF-2FF7-A275-7119-F8B06DA7316A}"/>
                </a:ext>
              </a:extLst>
            </p:cNvPr>
            <p:cNvSpPr/>
            <p:nvPr/>
          </p:nvSpPr>
          <p:spPr>
            <a:xfrm>
              <a:off x="5109208" y="1225320"/>
              <a:ext cx="4381203" cy="5214257"/>
            </a:xfrm>
            <a:prstGeom prst="roundRect">
              <a:avLst>
                <a:gd name="adj" fmla="val 6232"/>
              </a:avLst>
            </a:prstGeom>
            <a:noFill/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r>
                <a:rPr lang="en-US" sz="2200" b="1" dirty="0">
                  <a:solidFill>
                    <a:srgbClr val="091C53"/>
                  </a:solidFill>
                  <a:latin typeface="Instrument Sans Semi Bold" pitchFamily="34" charset="0"/>
                </a:rPr>
                <a:t>2  - Train on 5 Years of Daily History</a:t>
              </a: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>
                <a:lnSpc>
                  <a:spcPts val="2200"/>
                </a:lnSpc>
              </a:pP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1,829 days of department-level sales per department. 15 forecasting approaches tested — from simple rules (Naive, Seasonal Naive) to advanced machine learning (XGBoost, LightGBM). Winner selected through rigorous out-of-sample testing on the most recent 20% of data</a:t>
              </a:r>
              <a:r>
                <a:rPr lang="en-US" sz="1600" dirty="0">
                  <a:solidFill>
                    <a:srgbClr val="091C53"/>
                  </a:solidFill>
                  <a:latin typeface="Instrument Sans Semi Bold" pitchFamily="34" charset="0"/>
                </a:rPr>
                <a:t>.</a:t>
              </a:r>
            </a:p>
            <a:p>
              <a:pPr>
                <a:lnSpc>
                  <a:spcPts val="220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F51E7E13-1666-1092-E7FE-FF7CA98DDF2E}"/>
                </a:ext>
              </a:extLst>
            </p:cNvPr>
            <p:cNvSpPr/>
            <p:nvPr/>
          </p:nvSpPr>
          <p:spPr>
            <a:xfrm>
              <a:off x="9619234" y="1244031"/>
              <a:ext cx="4381203" cy="5214257"/>
            </a:xfrm>
            <a:prstGeom prst="roundRect">
              <a:avLst>
                <a:gd name="adj" fmla="val 6232"/>
              </a:avLst>
            </a:prstGeom>
            <a:noFill/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endParaRPr lang="en-US" sz="2200" b="1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 algn="ctr">
                <a:lnSpc>
                  <a:spcPts val="1950"/>
                </a:lnSpc>
              </a:pPr>
              <a:r>
                <a:rPr lang="en-US" sz="2200" b="1" dirty="0">
                  <a:solidFill>
                    <a:srgbClr val="091C53"/>
                  </a:solidFill>
                  <a:latin typeface="Instrument Sans Semi Bold" pitchFamily="34" charset="0"/>
                </a:rPr>
                <a:t>3 – Validate for Accuracy and Fairness</a:t>
              </a: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  <a:p>
              <a:pPr>
                <a:lnSpc>
                  <a:spcPts val="2200"/>
                </a:lnSpc>
              </a:pP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Results checked across SNAP days, event days, each day of the week, and high vs low demand periods. Bias formally audited before any recommendation was made. Model explainability confirmed — planners can see exactly why every forecast was produced.</a:t>
              </a:r>
              <a:endParaRPr lang="en-US" sz="1600" dirty="0"/>
            </a:p>
            <a:p>
              <a:pPr>
                <a:lnSpc>
                  <a:spcPts val="2200"/>
                </a:lnSpc>
              </a:pPr>
              <a:endParaRPr lang="en-US" sz="1600" dirty="0">
                <a:solidFill>
                  <a:srgbClr val="091C53"/>
                </a:solidFill>
                <a:latin typeface="Instrument Sans Semi Bold" pitchFamily="34" charset="0"/>
              </a:endParaRPr>
            </a:p>
          </p:txBody>
        </p:sp>
        <p:pic>
          <p:nvPicPr>
            <p:cNvPr id="42" name="Graphic 41" descr="Teacher with solid fill">
              <a:extLst>
                <a:ext uri="{FF2B5EF4-FFF2-40B4-BE49-F238E27FC236}">
                  <a16:creationId xmlns:a16="http://schemas.microsoft.com/office/drawing/2014/main" id="{DFF8E298-D1E0-5174-9925-CC938CE80D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42609" y="1485627"/>
              <a:ext cx="914400" cy="914400"/>
            </a:xfrm>
            <a:prstGeom prst="rect">
              <a:avLst/>
            </a:prstGeom>
          </p:spPr>
        </p:pic>
        <p:pic>
          <p:nvPicPr>
            <p:cNvPr id="44" name="Graphic 43" descr="Magnifying glass with solid fill">
              <a:extLst>
                <a:ext uri="{FF2B5EF4-FFF2-40B4-BE49-F238E27FC236}">
                  <a16:creationId xmlns:a16="http://schemas.microsoft.com/office/drawing/2014/main" id="{789BA3C8-BF87-A3DF-05F3-2A1C0E3DB74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32493" y="1485627"/>
              <a:ext cx="914400" cy="914400"/>
            </a:xfrm>
            <a:prstGeom prst="rect">
              <a:avLst/>
            </a:prstGeom>
          </p:spPr>
        </p:pic>
        <p:pic>
          <p:nvPicPr>
            <p:cNvPr id="46" name="Graphic 45" descr="Checklist with solid fill">
              <a:extLst>
                <a:ext uri="{FF2B5EF4-FFF2-40B4-BE49-F238E27FC236}">
                  <a16:creationId xmlns:a16="http://schemas.microsoft.com/office/drawing/2014/main" id="{5907BE52-C094-DF0D-77CB-6B373ADCBF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352634" y="1485627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55EEA-7F07-1F2B-27C6-3B0CB1EC3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CD69D9-24F4-B2B6-2838-CA2C6EA81608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800" b="1" dirty="0">
                <a:solidFill>
                  <a:srgbClr val="091C53"/>
                </a:solidFill>
                <a:latin typeface="Instrument Sans Semi Bold" pitchFamily="34" charset="0"/>
              </a:rPr>
              <a:t>4. Key Findings — What the Data Revealed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3ED1593-FC7E-EB42-B607-5AF041886DCC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EFDFD05-CE4E-9F6F-498A-B89038FDB32F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30D19DA-6771-5190-A138-CCD1146D5962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802BF59-1432-549A-1605-419A40968668}"/>
              </a:ext>
            </a:extLst>
          </p:cNvPr>
          <p:cNvGrpSpPr/>
          <p:nvPr/>
        </p:nvGrpSpPr>
        <p:grpSpPr>
          <a:xfrm>
            <a:off x="736637" y="1730030"/>
            <a:ext cx="6327818" cy="5910393"/>
            <a:chOff x="736637" y="1730030"/>
            <a:chExt cx="6327818" cy="5910393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C02DEC07-12BF-2A33-D2AC-23C52D281171}"/>
                </a:ext>
              </a:extLst>
            </p:cNvPr>
            <p:cNvSpPr/>
            <p:nvPr/>
          </p:nvSpPr>
          <p:spPr>
            <a:xfrm>
              <a:off x="736640" y="1730030"/>
              <a:ext cx="6327815" cy="1884027"/>
            </a:xfrm>
            <a:prstGeom prst="roundRect">
              <a:avLst>
                <a:gd name="adj" fmla="val 14356"/>
              </a:avLst>
            </a:prstGeom>
            <a:solidFill>
              <a:srgbClr val="CEE6FD"/>
            </a:solidFill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r>
                <a:rPr lang="en-US" sz="2000" b="1" dirty="0">
                  <a:solidFill>
                    <a:srgbClr val="002060"/>
                  </a:solidFill>
                </a:rPr>
                <a:t>Day of Week Is the Biggest Driver</a:t>
              </a:r>
            </a:p>
            <a:p>
              <a:endParaRPr lang="en-US" sz="1600" dirty="0">
                <a:solidFill>
                  <a:srgbClr val="002060"/>
                </a:solidFill>
              </a:endParaRPr>
            </a:p>
            <a:p>
              <a:pPr>
                <a:lnSpc>
                  <a:spcPts val="2050"/>
                </a:lnSpc>
              </a:pP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For FOODS_1 and FOODS_3, which day of the week it is matters more than any other signal — more than price, events, or even recent sales. Weekend demand is structurally higher and must be planned for.</a:t>
              </a:r>
              <a:endParaRPr lang="en-US" sz="1600" dirty="0"/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E7A4E508-D9D9-A7F5-C98A-FDC25DB6078B}"/>
                </a:ext>
              </a:extLst>
            </p:cNvPr>
            <p:cNvSpPr/>
            <p:nvPr/>
          </p:nvSpPr>
          <p:spPr>
            <a:xfrm>
              <a:off x="736638" y="3781388"/>
              <a:ext cx="6327815" cy="1807677"/>
            </a:xfrm>
            <a:prstGeom prst="roundRect">
              <a:avLst>
                <a:gd name="adj" fmla="val 7196"/>
              </a:avLst>
            </a:prstGeom>
            <a:noFill/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pPr>
                <a:lnSpc>
                  <a:spcPts val="2200"/>
                </a:lnSpc>
              </a:pPr>
              <a:r>
                <a:rPr lang="en-US" sz="2000" b="1" dirty="0">
                  <a:solidFill>
                    <a:srgbClr val="002060"/>
                  </a:solidFill>
                </a:rPr>
                <a:t>FOODS_3 Event Days Are a Critical Gap ⚠</a:t>
              </a:r>
            </a:p>
            <a:p>
              <a:pPr>
                <a:lnSpc>
                  <a:spcPts val="1950"/>
                </a:lnSpc>
              </a:pPr>
              <a:endPara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endParaRPr>
            </a:p>
            <a:p>
              <a:pPr>
                <a:lnSpc>
                  <a:spcPts val="2050"/>
                </a:lnSpc>
              </a:pP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</a:rPr>
                <a:t>On event days, FOODS_3 average error reached 673%. The model cannot be trusted for FOODS_3 on event weeks — demand planner must review and override before any supply plan is prepared.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A253B7E6-FD84-83C2-473F-29A58D7E94CF}"/>
                </a:ext>
              </a:extLst>
            </p:cNvPr>
            <p:cNvSpPr/>
            <p:nvPr/>
          </p:nvSpPr>
          <p:spPr>
            <a:xfrm>
              <a:off x="736637" y="5756396"/>
              <a:ext cx="6327815" cy="1884027"/>
            </a:xfrm>
            <a:prstGeom prst="roundRect">
              <a:avLst>
                <a:gd name="adj" fmla="val 14356"/>
              </a:avLst>
            </a:prstGeom>
            <a:solidFill>
              <a:srgbClr val="CEE6FD"/>
            </a:solidFill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r>
                <a:rPr lang="en-US" sz="2000" b="1" dirty="0">
                  <a:solidFill>
                    <a:srgbClr val="002060"/>
                  </a:solidFill>
                </a:rPr>
                <a:t>FOODS_3 Is Accurate on Peak Days</a:t>
              </a:r>
            </a:p>
            <a:p>
              <a:endParaRPr lang="en-US" sz="1600" dirty="0">
                <a:solidFill>
                  <a:srgbClr val="002060"/>
                </a:solidFill>
              </a:endParaRPr>
            </a:p>
            <a:p>
              <a:pPr>
                <a:lnSpc>
                  <a:spcPts val="2050"/>
                </a:lnSpc>
              </a:pP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</a:rPr>
                <a:t>Despite high overall error, FOODS_3 achieves only 6.8% error on its typical high-volume days. Forecast failures are concentrated on specific event days and Fridays — not general planning days.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3AB2479-E3E1-59D9-26A0-0B0294684588}"/>
              </a:ext>
            </a:extLst>
          </p:cNvPr>
          <p:cNvGrpSpPr/>
          <p:nvPr/>
        </p:nvGrpSpPr>
        <p:grpSpPr>
          <a:xfrm>
            <a:off x="7315200" y="1730030"/>
            <a:ext cx="6327818" cy="5910393"/>
            <a:chOff x="736637" y="1730030"/>
            <a:chExt cx="6327818" cy="5910393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17BD9FA-0A36-5982-A5FA-BA92F8D23589}"/>
                </a:ext>
              </a:extLst>
            </p:cNvPr>
            <p:cNvSpPr/>
            <p:nvPr/>
          </p:nvSpPr>
          <p:spPr>
            <a:xfrm>
              <a:off x="736640" y="1730030"/>
              <a:ext cx="6327815" cy="1884027"/>
            </a:xfrm>
            <a:prstGeom prst="roundRect">
              <a:avLst>
                <a:gd name="adj" fmla="val 14356"/>
              </a:avLst>
            </a:prstGeom>
            <a:noFill/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r>
                <a:rPr lang="en-US" sz="2000" b="1" dirty="0">
                  <a:solidFill>
                    <a:srgbClr val="002060"/>
                  </a:solidFill>
                </a:rPr>
                <a:t>SNAP Days Are Accurately Captured ✓</a:t>
              </a:r>
            </a:p>
            <a:p>
              <a:endParaRPr lang="en-US" sz="1600" dirty="0">
                <a:solidFill>
                  <a:srgbClr val="002060"/>
                </a:solidFill>
              </a:endParaRPr>
            </a:p>
            <a:p>
              <a:pPr>
                <a:lnSpc>
                  <a:spcPts val="2050"/>
                </a:lnSpc>
              </a:pP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</a:rPr>
                <a:t>The model handles SNAP benefit days correctly for all three departments. FOODS_2 is actually more accurate on SNAP days (8.4% error) than on regular days (9.0%).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D6E3DCC7-3269-5E11-E03A-792EF067AE23}"/>
                </a:ext>
              </a:extLst>
            </p:cNvPr>
            <p:cNvSpPr/>
            <p:nvPr/>
          </p:nvSpPr>
          <p:spPr>
            <a:xfrm>
              <a:off x="736638" y="3781388"/>
              <a:ext cx="6327815" cy="1807677"/>
            </a:xfrm>
            <a:prstGeom prst="roundRect">
              <a:avLst>
                <a:gd name="adj" fmla="val 7196"/>
              </a:avLst>
            </a:prstGeom>
            <a:solidFill>
              <a:srgbClr val="CEE6FD"/>
            </a:solidFill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r>
                <a:rPr lang="en-US" sz="2000" b="1" dirty="0">
                  <a:solidFill>
                    <a:srgbClr val="002060"/>
                  </a:solidFill>
                </a:rPr>
                <a:t>FOODS_1 Saturdays Consistently Short</a:t>
              </a:r>
            </a:p>
            <a:p>
              <a:endParaRPr lang="en-US" sz="2000" b="1" dirty="0">
                <a:solidFill>
                  <a:srgbClr val="002060"/>
                </a:solidFill>
              </a:endParaRPr>
            </a:p>
            <a:p>
              <a:pPr>
                <a:lnSpc>
                  <a:spcPts val="2050"/>
                </a:lnSpc>
              </a:pP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</a:rPr>
                <a:t>The model under-estimates every Saturday for FOODS_1 by 8.1%. Weekend demand plans for FOODS_1 need a fixed Saturday uplift.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B8CC6D8-4130-13A3-A461-1CB79C2D3F91}"/>
                </a:ext>
              </a:extLst>
            </p:cNvPr>
            <p:cNvSpPr/>
            <p:nvPr/>
          </p:nvSpPr>
          <p:spPr>
            <a:xfrm>
              <a:off x="736637" y="5756396"/>
              <a:ext cx="6327815" cy="1884027"/>
            </a:xfrm>
            <a:prstGeom prst="roundRect">
              <a:avLst>
                <a:gd name="adj" fmla="val 14356"/>
              </a:avLst>
            </a:prstGeom>
            <a:noFill/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r>
                <a:rPr lang="en-US" sz="2000" b="1" dirty="0">
                  <a:solidFill>
                    <a:srgbClr val="002060"/>
                  </a:solidFill>
                </a:rPr>
                <a:t>Monthly Cycle Anchors FOODS_3</a:t>
              </a:r>
            </a:p>
            <a:p>
              <a:endParaRPr lang="en-US" sz="1600" dirty="0">
                <a:solidFill>
                  <a:srgbClr val="002060"/>
                </a:solidFill>
              </a:endParaRPr>
            </a:p>
            <a:p>
              <a:pPr>
                <a:lnSpc>
                  <a:spcPts val="2050"/>
                </a:lnSpc>
              </a:pPr>
              <a:r>
                <a:rPr lang="en-US" sz="1600" dirty="0">
                  <a:solidFill>
                    <a:srgbClr val="1E3063"/>
                  </a:solidFill>
                  <a:latin typeface="Instrument Sans Medium" pitchFamily="34" charset="0"/>
                </a:rPr>
                <a:t>Last month's equivalent day is the strongest predictor for FOODS_3. Monthly purchasing and benefit cycles create a repeatable pattern that the model captures effectively for normal trading days.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2967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D5278-2329-3047-B9F9-CC8843215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694CCC-8E56-3A6D-5FA0-6C5521174ED0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800" b="1" dirty="0">
                <a:solidFill>
                  <a:srgbClr val="091C53"/>
                </a:solidFill>
                <a:latin typeface="Instrument Sans Semi Bold" pitchFamily="34" charset="0"/>
              </a:rPr>
              <a:t>5.  Results — Machine Learning vs Simple Rule-Based Methods</a:t>
            </a:r>
          </a:p>
          <a:p>
            <a:pPr>
              <a:lnSpc>
                <a:spcPts val="3500"/>
              </a:lnSpc>
            </a:pPr>
            <a:endParaRPr lang="en-US" sz="2800" b="1" dirty="0">
              <a:solidFill>
                <a:srgbClr val="091C53"/>
              </a:solidFill>
              <a:latin typeface="Instrument Sans Semi Bold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A5FD123-AAFB-21C7-B995-C804AB3D11E5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A0CBDBD-8C69-4026-516E-84E3D9948F96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A0AEB3A-083A-765A-0E16-AC772FBC8E85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680C340-371B-0B7A-F501-E608A877C503}"/>
              </a:ext>
            </a:extLst>
          </p:cNvPr>
          <p:cNvSpPr/>
          <p:nvPr/>
        </p:nvSpPr>
        <p:spPr>
          <a:xfrm>
            <a:off x="1262742" y="4983364"/>
            <a:ext cx="3722915" cy="2521207"/>
          </a:xfrm>
          <a:prstGeom prst="roundRect">
            <a:avLst>
              <a:gd name="adj" fmla="val 14356"/>
            </a:avLst>
          </a:prstGeom>
          <a:solidFill>
            <a:srgbClr val="CEE6FD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2000" b="1" dirty="0">
                <a:solidFill>
                  <a:srgbClr val="002060"/>
                </a:solidFill>
              </a:rPr>
              <a:t>FOODS_2 — Deployment Ready</a:t>
            </a:r>
          </a:p>
          <a:p>
            <a:endParaRPr lang="en-US" sz="1600" dirty="0">
              <a:solidFill>
                <a:srgbClr val="002060"/>
              </a:solidFill>
            </a:endParaRPr>
          </a:p>
          <a:p>
            <a:pPr>
              <a:lnSpc>
                <a:spcPts val="2050"/>
              </a:lnSpc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</a:rPr>
              <a:t>8.8% average daily error. Accurate on regular, event, and SNAP days alike.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9EAFB8-00ED-5836-3985-AE2C219768C1}"/>
              </a:ext>
            </a:extLst>
          </p:cNvPr>
          <p:cNvSpPr/>
          <p:nvPr/>
        </p:nvSpPr>
        <p:spPr>
          <a:xfrm>
            <a:off x="736637" y="1181773"/>
            <a:ext cx="13042821" cy="362903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sz="2000" i="1" dirty="0">
                <a:solidFill>
                  <a:srgbClr val="002060"/>
                </a:solidFill>
              </a:rPr>
              <a:t>Comparison against the two simplest baselines any business currently uses: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15D1DE-FC38-45DD-3C78-C2D30FC87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9527886"/>
              </p:ext>
            </p:extLst>
          </p:nvPr>
        </p:nvGraphicFramePr>
        <p:xfrm>
          <a:off x="792774" y="1781345"/>
          <a:ext cx="12930545" cy="254649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63384">
                  <a:extLst>
                    <a:ext uri="{9D8B030D-6E8A-4147-A177-3AD203B41FA5}">
                      <a16:colId xmlns:a16="http://schemas.microsoft.com/office/drawing/2014/main" val="2313311529"/>
                    </a:ext>
                  </a:extLst>
                </a:gridCol>
                <a:gridCol w="2613621">
                  <a:extLst>
                    <a:ext uri="{9D8B030D-6E8A-4147-A177-3AD203B41FA5}">
                      <a16:colId xmlns:a16="http://schemas.microsoft.com/office/drawing/2014/main" val="1093011993"/>
                    </a:ext>
                  </a:extLst>
                </a:gridCol>
                <a:gridCol w="2613621">
                  <a:extLst>
                    <a:ext uri="{9D8B030D-6E8A-4147-A177-3AD203B41FA5}">
                      <a16:colId xmlns:a16="http://schemas.microsoft.com/office/drawing/2014/main" val="2739628447"/>
                    </a:ext>
                  </a:extLst>
                </a:gridCol>
                <a:gridCol w="2888739">
                  <a:extLst>
                    <a:ext uri="{9D8B030D-6E8A-4147-A177-3AD203B41FA5}">
                      <a16:colId xmlns:a16="http://schemas.microsoft.com/office/drawing/2014/main" val="1745176565"/>
                    </a:ext>
                  </a:extLst>
                </a:gridCol>
                <a:gridCol w="2751180">
                  <a:extLst>
                    <a:ext uri="{9D8B030D-6E8A-4147-A177-3AD203B41FA5}">
                      <a16:colId xmlns:a16="http://schemas.microsoft.com/office/drawing/2014/main" val="1053878031"/>
                    </a:ext>
                  </a:extLst>
                </a:gridCol>
              </a:tblGrid>
              <a:tr h="795598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Department</a:t>
                      </a:r>
                    </a:p>
                  </a:txBody>
                  <a:tcPr anchor="ctr">
                    <a:solidFill>
                      <a:srgbClr val="CEE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Naive</a:t>
                      </a: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(repeat last day)</a:t>
                      </a:r>
                    </a:p>
                  </a:txBody>
                  <a:tcPr anchor="ctr">
                    <a:solidFill>
                      <a:srgbClr val="CEE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Seasonal Naive</a:t>
                      </a: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(repeat last week)</a:t>
                      </a:r>
                    </a:p>
                  </a:txBody>
                  <a:tcPr anchor="ctr">
                    <a:solidFill>
                      <a:srgbClr val="CEE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ML Model</a:t>
                      </a: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(XGBoost tuned)</a:t>
                      </a:r>
                    </a:p>
                  </a:txBody>
                  <a:tcPr anchor="ctr">
                    <a:solidFill>
                      <a:srgbClr val="CEE6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Improvement</a:t>
                      </a: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b="1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vs Naive &amp; Seasonal Naive</a:t>
                      </a:r>
                    </a:p>
                  </a:txBody>
                  <a:tcPr anchor="ctr">
                    <a:solidFill>
                      <a:srgbClr val="CEE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836709"/>
                  </a:ext>
                </a:extLst>
              </a:tr>
              <a:tr h="583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FOODS_1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106.3 RMSE</a:t>
                      </a: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16.5MAPE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130.3 RMSE</a:t>
                      </a: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23.1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76.7 RMSE </a:t>
                      </a:r>
                      <a:r>
                        <a:rPr lang="en-US" sz="1600" kern="1200" dirty="0">
                          <a:solidFill>
                            <a:srgbClr val="00B050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▼</a:t>
                      </a: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12.4 MAPE </a:t>
                      </a:r>
                      <a:r>
                        <a:rPr lang="en-US" sz="1600" kern="1200" dirty="0">
                          <a:solidFill>
                            <a:srgbClr val="00B050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▼</a:t>
                      </a:r>
                      <a:endParaRPr lang="en-US" sz="1600" kern="1200" dirty="0">
                        <a:solidFill>
                          <a:srgbClr val="1E3063"/>
                        </a:solidFill>
                        <a:latin typeface="Instrument Sans Medium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Significant improvement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9366875"/>
                  </a:ext>
                </a:extLst>
              </a:tr>
              <a:tr h="583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FOODS_2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221.8 RMSE</a:t>
                      </a: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25.4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125.5 RMSE</a:t>
                      </a: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14.2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74.5 RMSE </a:t>
                      </a:r>
                      <a:r>
                        <a:rPr lang="en-US" sz="1600" kern="1200" dirty="0">
                          <a:solidFill>
                            <a:srgbClr val="00B050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▼</a:t>
                      </a:r>
                      <a:endParaRPr lang="en-US" sz="1600" kern="1200" dirty="0">
                        <a:solidFill>
                          <a:srgbClr val="1E3063"/>
                        </a:solidFill>
                        <a:latin typeface="Instrument Sans Medium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8.8 MAPE </a:t>
                      </a:r>
                      <a:r>
                        <a:rPr lang="en-US" sz="1600" kern="1200" dirty="0">
                          <a:solidFill>
                            <a:srgbClr val="00B050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▼</a:t>
                      </a:r>
                      <a:endParaRPr lang="en-US" sz="1600" kern="1200" dirty="0">
                        <a:solidFill>
                          <a:srgbClr val="1E3063"/>
                        </a:solidFill>
                        <a:latin typeface="Instrument Sans Medium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E3063"/>
                          </a:solidFill>
                          <a:effectLst/>
                          <a:uLnTx/>
                          <a:uFillTx/>
                          <a:latin typeface="Instrument Sans Medium" pitchFamily="34" charset="0"/>
                          <a:ea typeface="+mn-ea"/>
                          <a:cs typeface="+mn-cs"/>
                        </a:rPr>
                        <a:t>Significant improvement</a:t>
                      </a:r>
                      <a:endParaRPr kumimoji="0" lang="en-US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1E3063"/>
                        </a:solidFill>
                        <a:effectLst/>
                        <a:uLnTx/>
                        <a:uFillTx/>
                        <a:latin typeface="Instrument Sans Medium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349585"/>
                  </a:ext>
                </a:extLst>
              </a:tr>
              <a:tr h="58363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FOODS_3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659.8 RMSE</a:t>
                      </a: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183.2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482.1 RMSE</a:t>
                      </a: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179.8 MAPE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282.3 RMSE </a:t>
                      </a:r>
                      <a:r>
                        <a:rPr lang="en-US" sz="1600" kern="1200" dirty="0">
                          <a:solidFill>
                            <a:srgbClr val="00B050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▼</a:t>
                      </a:r>
                      <a:endParaRPr lang="en-US" sz="1600" kern="1200" dirty="0">
                        <a:solidFill>
                          <a:srgbClr val="1E3063"/>
                        </a:solidFill>
                        <a:latin typeface="Instrument Sans Medium" pitchFamily="34" charset="0"/>
                        <a:ea typeface="+mn-ea"/>
                        <a:cs typeface="+mn-cs"/>
                      </a:endParaRPr>
                    </a:p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600" kern="1200" dirty="0">
                          <a:solidFill>
                            <a:srgbClr val="1E3063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57.8 MAPE </a:t>
                      </a:r>
                      <a:r>
                        <a:rPr lang="en-US" sz="1600" kern="1200" dirty="0">
                          <a:solidFill>
                            <a:srgbClr val="00B050"/>
                          </a:solidFill>
                          <a:latin typeface="Instrument Sans Medium" pitchFamily="34" charset="0"/>
                          <a:ea typeface="+mn-ea"/>
                          <a:cs typeface="+mn-cs"/>
                        </a:rPr>
                        <a:t>▼</a:t>
                      </a:r>
                      <a:endParaRPr lang="en-US" sz="1600" kern="1200" dirty="0">
                        <a:solidFill>
                          <a:srgbClr val="1E3063"/>
                        </a:solidFill>
                        <a:latin typeface="Instrument Sans Medium" pitchFamily="34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E3063"/>
                          </a:solidFill>
                          <a:effectLst/>
                          <a:uLnTx/>
                          <a:uFillTx/>
                          <a:latin typeface="Instrument Sans Medium" pitchFamily="34" charset="0"/>
                          <a:ea typeface="+mn-ea"/>
                          <a:cs typeface="+mn-cs"/>
                        </a:rPr>
                        <a:t>Significant improvement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918383"/>
                  </a:ext>
                </a:extLst>
              </a:tr>
            </a:tbl>
          </a:graphicData>
        </a:graphic>
      </p:graphicFrame>
      <p:sp>
        <p:nvSpPr>
          <p:cNvPr id="6" name="Text 6">
            <a:extLst>
              <a:ext uri="{FF2B5EF4-FFF2-40B4-BE49-F238E27FC236}">
                <a16:creationId xmlns:a16="http://schemas.microsoft.com/office/drawing/2014/main" id="{DD110383-49F1-AA06-AAC0-C72D1B1FBB5C}"/>
              </a:ext>
            </a:extLst>
          </p:cNvPr>
          <p:cNvSpPr/>
          <p:nvPr/>
        </p:nvSpPr>
        <p:spPr>
          <a:xfrm>
            <a:off x="736637" y="4474699"/>
            <a:ext cx="11747569" cy="341057"/>
          </a:xfrm>
          <a:prstGeom prst="rect">
            <a:avLst/>
          </a:prstGeom>
          <a:noFill/>
          <a:ln>
            <a:noFill/>
          </a:ln>
        </p:spPr>
        <p:txBody>
          <a:bodyPr rtlCol="0" anchor="ctr"/>
          <a:lstStyle/>
          <a:p>
            <a:r>
              <a:rPr lang="en-US" sz="14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MAPE = Mean Absolute Percentage Error. Lower is better. RMSE = Root Mean Squared Error (daily </a:t>
            </a:r>
            <a:r>
              <a:rPr lang="en-US" sz="1400" i="1">
                <a:solidFill>
                  <a:schemeClr val="tx1">
                    <a:lumMod val="50000"/>
                    <a:lumOff val="50000"/>
                  </a:schemeClr>
                </a:solidFill>
              </a:rPr>
              <a:t>units).</a:t>
            </a:r>
            <a:endParaRPr lang="en-US" sz="14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CCBEF69-AE79-3DC3-A185-C1F24AFC2E5F}"/>
              </a:ext>
            </a:extLst>
          </p:cNvPr>
          <p:cNvSpPr/>
          <p:nvPr/>
        </p:nvSpPr>
        <p:spPr>
          <a:xfrm>
            <a:off x="5170714" y="4962613"/>
            <a:ext cx="3722915" cy="2521207"/>
          </a:xfrm>
          <a:prstGeom prst="roundRect">
            <a:avLst>
              <a:gd name="adj" fmla="val 14356"/>
            </a:avLst>
          </a:prstGeom>
          <a:solidFill>
            <a:srgbClr val="CEE6FD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2000" b="1" dirty="0">
                <a:solidFill>
                  <a:srgbClr val="002060"/>
                </a:solidFill>
              </a:rPr>
              <a:t>FOODS_1 — Solid and Minor Fixes</a:t>
            </a:r>
          </a:p>
          <a:p>
            <a:endParaRPr lang="en-US" sz="1600" dirty="0">
              <a:solidFill>
                <a:srgbClr val="002060"/>
              </a:solidFill>
            </a:endParaRPr>
          </a:p>
          <a:p>
            <a:pPr>
              <a:lnSpc>
                <a:spcPts val="2050"/>
              </a:lnSpc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</a:rPr>
              <a:t>12.4% MAPE. Apply +9 units/day bias correction and Saturday uplift before supply planning.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E909FD8-73D1-2809-DEB7-899B9357FE23}"/>
              </a:ext>
            </a:extLst>
          </p:cNvPr>
          <p:cNvSpPr/>
          <p:nvPr/>
        </p:nvSpPr>
        <p:spPr>
          <a:xfrm>
            <a:off x="9078686" y="4962613"/>
            <a:ext cx="3722915" cy="2521207"/>
          </a:xfrm>
          <a:prstGeom prst="roundRect">
            <a:avLst>
              <a:gd name="adj" fmla="val 14356"/>
            </a:avLst>
          </a:prstGeom>
          <a:solidFill>
            <a:srgbClr val="CEE6FD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2000" b="1" dirty="0">
                <a:solidFill>
                  <a:srgbClr val="002060"/>
                </a:solidFill>
              </a:rPr>
              <a:t>FOODS_3 — Improves Significantly</a:t>
            </a:r>
          </a:p>
          <a:p>
            <a:endParaRPr lang="en-US" sz="1600" dirty="0">
              <a:solidFill>
                <a:srgbClr val="002060"/>
              </a:solidFill>
            </a:endParaRPr>
          </a:p>
          <a:p>
            <a:pPr>
              <a:lnSpc>
                <a:spcPts val="2050"/>
              </a:lnSpc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</a:rPr>
              <a:t>From unworkable baseline error down to 57.8%. Event days and Fridays still need planner override.</a:t>
            </a:r>
          </a:p>
        </p:txBody>
      </p:sp>
    </p:spTree>
    <p:extLst>
      <p:ext uri="{BB962C8B-B14F-4D97-AF65-F5344CB8AC3E}">
        <p14:creationId xmlns:p14="http://schemas.microsoft.com/office/powerpoint/2010/main" val="2993025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832CC-8E20-A064-878C-D1E6850C7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4F9C9FD-9B8B-7BB2-C300-31EF62757667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800" b="1" dirty="0">
                <a:solidFill>
                  <a:srgbClr val="091C53"/>
                </a:solidFill>
                <a:latin typeface="Instrument Sans Semi Bold" pitchFamily="34" charset="0"/>
              </a:rPr>
              <a:t>6. The 28-Day Demand Signal — Apr 25 to May 22, 2016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4F0443B-5C3E-64D3-F453-4987F1BC653A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F9A5DA9-4B49-64A0-7581-3004076D28F3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D5CD822-F2A6-D96C-BDD0-E0592641E043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C2816AD-66FE-A0A5-DB67-B569DEFB0301}"/>
              </a:ext>
            </a:extLst>
          </p:cNvPr>
          <p:cNvSpPr/>
          <p:nvPr/>
        </p:nvSpPr>
        <p:spPr>
          <a:xfrm>
            <a:off x="599181" y="7067788"/>
            <a:ext cx="13508705" cy="587257"/>
          </a:xfrm>
          <a:prstGeom prst="roundRect">
            <a:avLst/>
          </a:prstGeom>
          <a:solidFill>
            <a:srgbClr val="CEE6FD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pPr>
              <a:lnSpc>
                <a:spcPts val="2200"/>
              </a:lnSpc>
            </a:pPr>
            <a:r>
              <a:rPr lang="en-US" sz="1400" b="1" dirty="0">
                <a:solidFill>
                  <a:srgbClr val="00206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Important: </a:t>
            </a:r>
            <a:r>
              <a:rPr lang="en-US" sz="1400" dirty="0">
                <a:solidFill>
                  <a:srgbClr val="00206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demand signal is a reference input for supply planning — not a direct purchase quantity. The supply team must cross-check against current on-hand inventory at CA_3 and incoming in-transit stock before finalizing any order. Net demand = Forecast signal − On-hand − In-transit.</a:t>
            </a:r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1148C692-3002-EB42-B5D3-63518072F8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20"/>
          <a:stretch>
            <a:fillRect/>
          </a:stretch>
        </p:blipFill>
        <p:spPr>
          <a:xfrm>
            <a:off x="2654160" y="1181773"/>
            <a:ext cx="8536353" cy="565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386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2A215-2F71-67AB-5564-BF4B6CB82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08B31C-E907-9E59-5446-9F64856E5BAF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800" b="1" dirty="0">
                <a:solidFill>
                  <a:srgbClr val="091C53"/>
                </a:solidFill>
                <a:latin typeface="Instrument Sans Semi Bold" pitchFamily="34" charset="0"/>
              </a:rPr>
              <a:t>7. Recommendations — Five Actions Before Handover to Supply Planning</a:t>
            </a:r>
          </a:p>
          <a:p>
            <a:pPr>
              <a:lnSpc>
                <a:spcPts val="3500"/>
              </a:lnSpc>
            </a:pPr>
            <a:endParaRPr lang="en-US" sz="2800" b="1" dirty="0">
              <a:solidFill>
                <a:srgbClr val="091C53"/>
              </a:solidFill>
              <a:latin typeface="Instrument Sans Semi Bold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92B0BBC-8A2F-0E6D-CA1B-7886BC889070}"/>
              </a:ext>
            </a:extLst>
          </p:cNvPr>
          <p:cNvSpPr/>
          <p:nvPr/>
        </p:nvSpPr>
        <p:spPr>
          <a:xfrm>
            <a:off x="9796397" y="9269187"/>
            <a:ext cx="22896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2-Direction Cost of Error</a:t>
            </a:r>
            <a:endParaRPr lang="en-US" sz="15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F2407F5-E082-C513-CB78-CC8C16E993E9}"/>
              </a:ext>
            </a:extLst>
          </p:cNvPr>
          <p:cNvSpPr/>
          <p:nvPr/>
        </p:nvSpPr>
        <p:spPr>
          <a:xfrm>
            <a:off x="9796397" y="9628279"/>
            <a:ext cx="6327815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over AND under-forecasting cost money — waste from spoilage OR lost sales from empty shelves</a:t>
            </a:r>
            <a:endParaRPr lang="en-US" sz="12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443A1DA-7F8C-CF1D-CC15-1BDA81E518DE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E3EB70-42D8-2D17-7697-86E817E18093}"/>
              </a:ext>
            </a:extLst>
          </p:cNvPr>
          <p:cNvGrpSpPr/>
          <p:nvPr/>
        </p:nvGrpSpPr>
        <p:grpSpPr>
          <a:xfrm>
            <a:off x="599181" y="1314789"/>
            <a:ext cx="12551229" cy="6340256"/>
            <a:chOff x="446314" y="1181773"/>
            <a:chExt cx="12551229" cy="6340256"/>
          </a:xfrm>
        </p:grpSpPr>
        <p:graphicFrame>
          <p:nvGraphicFramePr>
            <p:cNvPr id="5" name="Diagram 4">
              <a:extLst>
                <a:ext uri="{FF2B5EF4-FFF2-40B4-BE49-F238E27FC236}">
                  <a16:creationId xmlns:a16="http://schemas.microsoft.com/office/drawing/2014/main" id="{93E5CFB1-D9D6-067E-9183-00F95EBF0AD6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09881324"/>
                </p:ext>
              </p:extLst>
            </p:nvPr>
          </p:nvGraphicFramePr>
          <p:xfrm>
            <a:off x="1175282" y="1181773"/>
            <a:ext cx="11822261" cy="634025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5F9FB3B-B3C4-17E5-C96D-6161DDFAF6BA}"/>
                </a:ext>
              </a:extLst>
            </p:cNvPr>
            <p:cNvSpPr/>
            <p:nvPr/>
          </p:nvSpPr>
          <p:spPr>
            <a:xfrm>
              <a:off x="446314" y="1324972"/>
              <a:ext cx="652768" cy="642258"/>
            </a:xfrm>
            <a:prstGeom prst="ellipse">
              <a:avLst/>
            </a:prstGeom>
            <a:solidFill>
              <a:srgbClr val="CEE6FE"/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2060"/>
                  </a:solidFill>
                  <a:latin typeface="Instrument Sans Semi Bold" pitchFamily="34" charset="0"/>
                </a:rPr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5F7878E-5CB9-2171-9545-8B0A9EE1A00E}"/>
                </a:ext>
              </a:extLst>
            </p:cNvPr>
            <p:cNvSpPr/>
            <p:nvPr/>
          </p:nvSpPr>
          <p:spPr>
            <a:xfrm>
              <a:off x="446314" y="2511515"/>
              <a:ext cx="652768" cy="642258"/>
            </a:xfrm>
            <a:prstGeom prst="ellipse">
              <a:avLst/>
            </a:prstGeom>
            <a:solidFill>
              <a:srgbClr val="CEE6FE"/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2060"/>
                  </a:solidFill>
                  <a:latin typeface="Instrument Sans Semi Bold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80B09E2-F2C4-FDA1-B547-79EFF116E546}"/>
                </a:ext>
              </a:extLst>
            </p:cNvPr>
            <p:cNvSpPr/>
            <p:nvPr/>
          </p:nvSpPr>
          <p:spPr>
            <a:xfrm>
              <a:off x="446314" y="3678645"/>
              <a:ext cx="652768" cy="642258"/>
            </a:xfrm>
            <a:prstGeom prst="ellipse">
              <a:avLst/>
            </a:prstGeom>
            <a:solidFill>
              <a:srgbClr val="CEE6FE"/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2060"/>
                  </a:solidFill>
                  <a:latin typeface="Instrument Sans Semi Bold" pitchFamily="34" charset="0"/>
                </a:rPr>
                <a:t>3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9527E3B8-FDF3-0A42-7C17-D149784A28B0}"/>
                </a:ext>
              </a:extLst>
            </p:cNvPr>
            <p:cNvSpPr/>
            <p:nvPr/>
          </p:nvSpPr>
          <p:spPr>
            <a:xfrm>
              <a:off x="446314" y="4845775"/>
              <a:ext cx="652768" cy="642258"/>
            </a:xfrm>
            <a:prstGeom prst="ellipse">
              <a:avLst/>
            </a:prstGeom>
            <a:solidFill>
              <a:srgbClr val="CEE6FE"/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2060"/>
                  </a:solidFill>
                  <a:latin typeface="Instrument Sans Semi Bold" pitchFamily="34" charset="0"/>
                </a:rPr>
                <a:t>4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510483A-7612-4957-DBAA-C7E79081B879}"/>
                </a:ext>
              </a:extLst>
            </p:cNvPr>
            <p:cNvSpPr/>
            <p:nvPr/>
          </p:nvSpPr>
          <p:spPr>
            <a:xfrm>
              <a:off x="446314" y="6054168"/>
              <a:ext cx="652768" cy="642258"/>
            </a:xfrm>
            <a:prstGeom prst="ellipse">
              <a:avLst/>
            </a:prstGeom>
            <a:solidFill>
              <a:srgbClr val="CEE6FE"/>
            </a:solidFill>
            <a:ln w="12700" cap="flat" cmpd="sng" algn="ctr">
              <a:solidFill>
                <a:prstClr val="white">
                  <a:hueOff val="0"/>
                  <a:satOff val="0"/>
                  <a:lumOff val="0"/>
                  <a:alphaOff val="0"/>
                </a:prstClr>
              </a:solidFill>
              <a:prstDash val="solid"/>
              <a:miter lim="800000"/>
            </a:ln>
            <a:effectLst/>
          </p:spPr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2060"/>
                  </a:solidFill>
                  <a:latin typeface="Instrument Sans Semi Bold" pitchFamily="34" charset="0"/>
                </a:rPr>
                <a:t>5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A13AA22-4E41-8C1B-B7BE-3DAF9B829AD9}"/>
              </a:ext>
            </a:extLst>
          </p:cNvPr>
          <p:cNvGrpSpPr/>
          <p:nvPr/>
        </p:nvGrpSpPr>
        <p:grpSpPr>
          <a:xfrm>
            <a:off x="13226610" y="1657078"/>
            <a:ext cx="821769" cy="244078"/>
            <a:chOff x="1221224" y="2230517"/>
            <a:chExt cx="821769" cy="244078"/>
          </a:xfrm>
        </p:grpSpPr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236969DD-D21F-DA78-0147-5145FE3FBCA6}"/>
                </a:ext>
              </a:extLst>
            </p:cNvPr>
            <p:cNvSpPr/>
            <p:nvPr/>
          </p:nvSpPr>
          <p:spPr>
            <a:xfrm>
              <a:off x="1221224" y="2230517"/>
              <a:ext cx="821769" cy="244078"/>
            </a:xfrm>
            <a:prstGeom prst="roundRect">
              <a:avLst>
                <a:gd name="adj" fmla="val 43492"/>
              </a:avLst>
            </a:prstGeom>
            <a:solidFill>
              <a:srgbClr val="00B050"/>
            </a:solidFill>
            <a:ln/>
          </p:spPr>
          <p:txBody>
            <a:bodyPr/>
            <a:lstStyle/>
            <a:p>
              <a:endParaRPr lang="en-US" b="1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AD04ED45-6F89-F920-8B4B-8DCB4A4096FB}"/>
                </a:ext>
              </a:extLst>
            </p:cNvPr>
            <p:cNvSpPr/>
            <p:nvPr/>
          </p:nvSpPr>
          <p:spPr>
            <a:xfrm>
              <a:off x="1309568" y="2274689"/>
              <a:ext cx="645081" cy="1557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900" b="1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QUICK WIN</a:t>
              </a:r>
              <a:endParaRPr lang="en-US" sz="900" b="1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7B6700-6F9C-B2F6-C690-5913D105F424}"/>
              </a:ext>
            </a:extLst>
          </p:cNvPr>
          <p:cNvGrpSpPr/>
          <p:nvPr/>
        </p:nvGrpSpPr>
        <p:grpSpPr>
          <a:xfrm>
            <a:off x="13253332" y="2843621"/>
            <a:ext cx="821769" cy="244078"/>
            <a:chOff x="1221224" y="2230517"/>
            <a:chExt cx="821769" cy="244078"/>
          </a:xfrm>
        </p:grpSpPr>
        <p:sp>
          <p:nvSpPr>
            <p:cNvPr id="21" name="Shape 5">
              <a:extLst>
                <a:ext uri="{FF2B5EF4-FFF2-40B4-BE49-F238E27FC236}">
                  <a16:creationId xmlns:a16="http://schemas.microsoft.com/office/drawing/2014/main" id="{6866CB97-9E7A-440E-9525-8620A185DC75}"/>
                </a:ext>
              </a:extLst>
            </p:cNvPr>
            <p:cNvSpPr/>
            <p:nvPr/>
          </p:nvSpPr>
          <p:spPr>
            <a:xfrm>
              <a:off x="1221224" y="2230517"/>
              <a:ext cx="821769" cy="244078"/>
            </a:xfrm>
            <a:prstGeom prst="roundRect">
              <a:avLst>
                <a:gd name="adj" fmla="val 43492"/>
              </a:avLst>
            </a:prstGeom>
            <a:solidFill>
              <a:srgbClr val="00B050"/>
            </a:solidFill>
            <a:ln/>
          </p:spPr>
          <p:txBody>
            <a:bodyPr/>
            <a:lstStyle/>
            <a:p>
              <a:endParaRPr lang="en-US" b="1"/>
            </a:p>
          </p:txBody>
        </p:sp>
        <p:sp>
          <p:nvSpPr>
            <p:cNvPr id="22" name="Text 6">
              <a:extLst>
                <a:ext uri="{FF2B5EF4-FFF2-40B4-BE49-F238E27FC236}">
                  <a16:creationId xmlns:a16="http://schemas.microsoft.com/office/drawing/2014/main" id="{4A3E62A2-4AED-9B9C-F921-4972C003F157}"/>
                </a:ext>
              </a:extLst>
            </p:cNvPr>
            <p:cNvSpPr/>
            <p:nvPr/>
          </p:nvSpPr>
          <p:spPr>
            <a:xfrm>
              <a:off x="1309568" y="2274689"/>
              <a:ext cx="645081" cy="1557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900" b="1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QUICK WIN</a:t>
              </a:r>
              <a:endParaRPr lang="en-US" sz="900" b="1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57812C6-A001-D55E-576B-ECE6706C3905}"/>
              </a:ext>
            </a:extLst>
          </p:cNvPr>
          <p:cNvGrpSpPr/>
          <p:nvPr/>
        </p:nvGrpSpPr>
        <p:grpSpPr>
          <a:xfrm>
            <a:off x="13253332" y="4010751"/>
            <a:ext cx="1072268" cy="244078"/>
            <a:chOff x="1221224" y="2230517"/>
            <a:chExt cx="821769" cy="244078"/>
          </a:xfrm>
        </p:grpSpPr>
        <p:sp>
          <p:nvSpPr>
            <p:cNvPr id="24" name="Shape 5">
              <a:extLst>
                <a:ext uri="{FF2B5EF4-FFF2-40B4-BE49-F238E27FC236}">
                  <a16:creationId xmlns:a16="http://schemas.microsoft.com/office/drawing/2014/main" id="{1CF5E3B1-E6D0-8AF2-F0E4-B5C13FBDDAD9}"/>
                </a:ext>
              </a:extLst>
            </p:cNvPr>
            <p:cNvSpPr/>
            <p:nvPr/>
          </p:nvSpPr>
          <p:spPr>
            <a:xfrm>
              <a:off x="1221224" y="2230517"/>
              <a:ext cx="821769" cy="244078"/>
            </a:xfrm>
            <a:prstGeom prst="roundRect">
              <a:avLst>
                <a:gd name="adj" fmla="val 43492"/>
              </a:avLst>
            </a:prstGeom>
            <a:solidFill>
              <a:srgbClr val="FFC000"/>
            </a:solidFill>
            <a:ln/>
          </p:spPr>
          <p:txBody>
            <a:bodyPr/>
            <a:lstStyle/>
            <a:p>
              <a:endParaRPr lang="en-US" b="1"/>
            </a:p>
          </p:txBody>
        </p:sp>
        <p:sp>
          <p:nvSpPr>
            <p:cNvPr id="25" name="Text 6">
              <a:extLst>
                <a:ext uri="{FF2B5EF4-FFF2-40B4-BE49-F238E27FC236}">
                  <a16:creationId xmlns:a16="http://schemas.microsoft.com/office/drawing/2014/main" id="{5F4C1635-C265-3064-7802-0C405B950934}"/>
                </a:ext>
              </a:extLst>
            </p:cNvPr>
            <p:cNvSpPr/>
            <p:nvPr/>
          </p:nvSpPr>
          <p:spPr>
            <a:xfrm>
              <a:off x="1309568" y="2274689"/>
              <a:ext cx="733425" cy="1999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900" b="1" dirty="0">
                  <a:solidFill>
                    <a:srgbClr val="1E3063"/>
                  </a:solidFill>
                  <a:latin typeface="Instrument Sans Medium" pitchFamily="34" charset="0"/>
                </a:rPr>
                <a:t>HIGH PRIORITY</a:t>
              </a:r>
              <a:endParaRPr lang="en-US" sz="900" b="1" dirty="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8F438A2-8002-D185-5EEA-E8CAA1E6FCF6}"/>
              </a:ext>
            </a:extLst>
          </p:cNvPr>
          <p:cNvGrpSpPr/>
          <p:nvPr/>
        </p:nvGrpSpPr>
        <p:grpSpPr>
          <a:xfrm>
            <a:off x="13253332" y="5177881"/>
            <a:ext cx="821769" cy="244078"/>
            <a:chOff x="1221224" y="2230517"/>
            <a:chExt cx="821769" cy="244078"/>
          </a:xfrm>
        </p:grpSpPr>
        <p:sp>
          <p:nvSpPr>
            <p:cNvPr id="27" name="Shape 5">
              <a:extLst>
                <a:ext uri="{FF2B5EF4-FFF2-40B4-BE49-F238E27FC236}">
                  <a16:creationId xmlns:a16="http://schemas.microsoft.com/office/drawing/2014/main" id="{B7192721-9538-5B70-BF63-E6A3DBC9DECC}"/>
                </a:ext>
              </a:extLst>
            </p:cNvPr>
            <p:cNvSpPr/>
            <p:nvPr/>
          </p:nvSpPr>
          <p:spPr>
            <a:xfrm>
              <a:off x="1221224" y="2230517"/>
              <a:ext cx="821769" cy="244078"/>
            </a:xfrm>
            <a:prstGeom prst="roundRect">
              <a:avLst>
                <a:gd name="adj" fmla="val 43492"/>
              </a:avLst>
            </a:prstGeom>
            <a:solidFill>
              <a:srgbClr val="FFFF00"/>
            </a:solidFill>
            <a:ln/>
          </p:spPr>
          <p:txBody>
            <a:bodyPr/>
            <a:lstStyle/>
            <a:p>
              <a:endParaRPr lang="en-US" b="1"/>
            </a:p>
          </p:txBody>
        </p:sp>
        <p:sp>
          <p:nvSpPr>
            <p:cNvPr id="28" name="Text 6">
              <a:extLst>
                <a:ext uri="{FF2B5EF4-FFF2-40B4-BE49-F238E27FC236}">
                  <a16:creationId xmlns:a16="http://schemas.microsoft.com/office/drawing/2014/main" id="{17C68425-9E45-9155-CA1E-7FFFF2A6A6D1}"/>
                </a:ext>
              </a:extLst>
            </p:cNvPr>
            <p:cNvSpPr/>
            <p:nvPr/>
          </p:nvSpPr>
          <p:spPr>
            <a:xfrm>
              <a:off x="1309568" y="2274689"/>
              <a:ext cx="645081" cy="1557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900" b="1" dirty="0">
                  <a:solidFill>
                    <a:srgbClr val="1E3063"/>
                  </a:solidFill>
                  <a:latin typeface="Instrument Sans Medium" pitchFamily="34" charset="0"/>
                </a:rPr>
                <a:t>CRITICAL</a:t>
              </a:r>
              <a:endParaRPr lang="en-US" sz="900" b="1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312F96-C4C2-D742-703B-FBF08F2866D7}"/>
              </a:ext>
            </a:extLst>
          </p:cNvPr>
          <p:cNvGrpSpPr/>
          <p:nvPr/>
        </p:nvGrpSpPr>
        <p:grpSpPr>
          <a:xfrm>
            <a:off x="13226610" y="6386274"/>
            <a:ext cx="956994" cy="244078"/>
            <a:chOff x="1221224" y="2230517"/>
            <a:chExt cx="733425" cy="244078"/>
          </a:xfrm>
        </p:grpSpPr>
        <p:sp>
          <p:nvSpPr>
            <p:cNvPr id="30" name="Shape 5">
              <a:extLst>
                <a:ext uri="{FF2B5EF4-FFF2-40B4-BE49-F238E27FC236}">
                  <a16:creationId xmlns:a16="http://schemas.microsoft.com/office/drawing/2014/main" id="{B2F6591D-3352-674E-4EFA-CC3CFC458DE2}"/>
                </a:ext>
              </a:extLst>
            </p:cNvPr>
            <p:cNvSpPr/>
            <p:nvPr/>
          </p:nvSpPr>
          <p:spPr>
            <a:xfrm>
              <a:off x="1221224" y="2230517"/>
              <a:ext cx="733425" cy="244078"/>
            </a:xfrm>
            <a:prstGeom prst="roundRect">
              <a:avLst>
                <a:gd name="adj" fmla="val 43492"/>
              </a:avLst>
            </a:prstGeom>
            <a:noFill/>
            <a:ln>
              <a:solidFill>
                <a:srgbClr val="CEE6FE"/>
              </a:solidFill>
            </a:ln>
          </p:spPr>
          <p:txBody>
            <a:bodyPr/>
            <a:lstStyle/>
            <a:p>
              <a:endParaRPr lang="en-US" b="1">
                <a:solidFill>
                  <a:srgbClr val="002060"/>
                </a:solidFill>
              </a:endParaRPr>
            </a:p>
          </p:txBody>
        </p:sp>
        <p:sp>
          <p:nvSpPr>
            <p:cNvPr id="31" name="Text 6">
              <a:extLst>
                <a:ext uri="{FF2B5EF4-FFF2-40B4-BE49-F238E27FC236}">
                  <a16:creationId xmlns:a16="http://schemas.microsoft.com/office/drawing/2014/main" id="{6280806E-D78A-683D-FCFA-0F2D6F0B7277}"/>
                </a:ext>
              </a:extLst>
            </p:cNvPr>
            <p:cNvSpPr/>
            <p:nvPr/>
          </p:nvSpPr>
          <p:spPr>
            <a:xfrm>
              <a:off x="1309568" y="2274689"/>
              <a:ext cx="645081" cy="1557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1200"/>
                </a:lnSpc>
                <a:buNone/>
              </a:pPr>
              <a:r>
                <a:rPr lang="en-US" sz="900" b="1" dirty="0">
                  <a:solidFill>
                    <a:srgbClr val="1E3063"/>
                  </a:solidFill>
                  <a:latin typeface="Instrument Sans Medium" pitchFamily="34" charset="0"/>
                </a:rPr>
                <a:t>NEXT STEPS</a:t>
              </a:r>
              <a:endParaRPr lang="en-US" sz="9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11575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0ACA7F0F-3EC0-5B31-CD3F-260DFA5F7BF9}"/>
              </a:ext>
            </a:extLst>
          </p:cNvPr>
          <p:cNvSpPr/>
          <p:nvPr/>
        </p:nvSpPr>
        <p:spPr>
          <a:xfrm>
            <a:off x="599181" y="574555"/>
            <a:ext cx="1293054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800" b="1" dirty="0">
                <a:solidFill>
                  <a:srgbClr val="091C53"/>
                </a:solidFill>
                <a:latin typeface="Instrument Sans Semi Bold" pitchFamily="34" charset="0"/>
              </a:rPr>
              <a:t>8. Risks and Considerations</a:t>
            </a:r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82A6628F-C2DB-7956-C64F-0D1FFB1B554A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9485646-8C25-06EC-8610-7D8B6FB34C78}"/>
              </a:ext>
            </a:extLst>
          </p:cNvPr>
          <p:cNvSpPr/>
          <p:nvPr/>
        </p:nvSpPr>
        <p:spPr>
          <a:xfrm>
            <a:off x="599181" y="1359917"/>
            <a:ext cx="11527507" cy="1132912"/>
          </a:xfrm>
          <a:prstGeom prst="roundRect">
            <a:avLst>
              <a:gd name="adj" fmla="val 7119"/>
            </a:avLst>
          </a:prstGeom>
          <a:solidFill>
            <a:srgbClr val="CEE6FD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2000" b="1" dirty="0">
                <a:solidFill>
                  <a:srgbClr val="002060"/>
                </a:solidFill>
              </a:rPr>
              <a:t>This is a demand signal — not an automatic purchase order</a:t>
            </a:r>
          </a:p>
          <a:p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500" dirty="0">
                <a:solidFill>
                  <a:srgbClr val="002060"/>
                </a:solidFill>
                <a:latin typeface="Instrument Sans Medium" pitchFamily="34" charset="0"/>
              </a:rPr>
              <a:t>The forecast output feeds into supply planning as a reference. Demand planners must cross-check against current on-hand stock and in-transit inventory before releasing any purchase order. The net quantity after netting is what gets ordered.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BD973D1-114B-0F85-B9BB-F0C1802AA7E0}"/>
              </a:ext>
            </a:extLst>
          </p:cNvPr>
          <p:cNvSpPr/>
          <p:nvPr/>
        </p:nvSpPr>
        <p:spPr>
          <a:xfrm>
            <a:off x="599180" y="2642552"/>
            <a:ext cx="11527507" cy="1132912"/>
          </a:xfrm>
          <a:prstGeom prst="roundRect">
            <a:avLst>
              <a:gd name="adj" fmla="val 7119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2000" b="1" dirty="0">
                <a:solidFill>
                  <a:srgbClr val="002060"/>
                </a:solidFill>
              </a:rPr>
              <a:t>FOODS_3 requires the closest scrutiny</a:t>
            </a:r>
          </a:p>
          <a:p>
            <a:endParaRPr lang="en-US" sz="15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500" dirty="0">
                <a:solidFill>
                  <a:srgbClr val="002060"/>
                </a:solidFill>
                <a:latin typeface="Instrument Sans Medium" pitchFamily="34" charset="0"/>
              </a:rPr>
              <a:t>FOODS_3's higher error rate reflects genuine demand volatility driven by a small number of extreme days. Treat its demand signal as directional — always subject to planner sign-off on event days and Fridays.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636C5F7B-B2A6-9F0B-BC01-C725A33D61A2}"/>
              </a:ext>
            </a:extLst>
          </p:cNvPr>
          <p:cNvSpPr/>
          <p:nvPr/>
        </p:nvSpPr>
        <p:spPr>
          <a:xfrm>
            <a:off x="599181" y="3925187"/>
            <a:ext cx="11527507" cy="1132912"/>
          </a:xfrm>
          <a:prstGeom prst="roundRect">
            <a:avLst>
              <a:gd name="adj" fmla="val 7119"/>
            </a:avLst>
          </a:prstGeom>
          <a:solidFill>
            <a:srgbClr val="CEE6FD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2000" b="1" dirty="0">
                <a:solidFill>
                  <a:srgbClr val="002060"/>
                </a:solidFill>
              </a:rPr>
              <a:t>Forecast errors compound over 28 days</a:t>
            </a:r>
          </a:p>
          <a:p>
            <a:endParaRPr lang="en-US" sz="20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500" dirty="0">
                <a:solidFill>
                  <a:srgbClr val="002060"/>
                </a:solidFill>
                <a:latin typeface="Instrument Sans Medium" pitchFamily="34" charset="0"/>
              </a:rPr>
              <a:t>Day 1 of the 28-day signal is the most reliable. For production use, the model should be refit weekly with the latest actual sales data to maintain accuracy over the full planning horizon.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6C307A7-C94D-B627-D9DD-8D56D69552E1}"/>
              </a:ext>
            </a:extLst>
          </p:cNvPr>
          <p:cNvSpPr/>
          <p:nvPr/>
        </p:nvSpPr>
        <p:spPr>
          <a:xfrm>
            <a:off x="599180" y="5207822"/>
            <a:ext cx="11527507" cy="1132912"/>
          </a:xfrm>
          <a:prstGeom prst="roundRect">
            <a:avLst>
              <a:gd name="adj" fmla="val 7119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2000" b="1" dirty="0">
                <a:solidFill>
                  <a:srgbClr val="002060"/>
                </a:solidFill>
              </a:rPr>
              <a:t>Poor item-level split causes shelf gaps</a:t>
            </a:r>
          </a:p>
          <a:p>
            <a:endParaRPr lang="en-US" sz="15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500" dirty="0">
                <a:solidFill>
                  <a:srgbClr val="002060"/>
                </a:solidFill>
                <a:latin typeface="Instrument Sans Medium" pitchFamily="34" charset="0"/>
              </a:rPr>
              <a:t>A department signal that looks accurate can still produce stockouts if the SKU contribution percentages are wrong. Item fill rate must be monitored independently — aggregate department accuracy will not catch this.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A092A722-557C-1F65-AAB2-72E0799D136C}"/>
              </a:ext>
            </a:extLst>
          </p:cNvPr>
          <p:cNvSpPr/>
          <p:nvPr/>
        </p:nvSpPr>
        <p:spPr>
          <a:xfrm>
            <a:off x="599179" y="6480241"/>
            <a:ext cx="11527507" cy="1132912"/>
          </a:xfrm>
          <a:prstGeom prst="roundRect">
            <a:avLst>
              <a:gd name="adj" fmla="val 7119"/>
            </a:avLst>
          </a:prstGeom>
          <a:solidFill>
            <a:srgbClr val="CEE6FD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sz="2000" b="1" dirty="0">
                <a:solidFill>
                  <a:srgbClr val="002060"/>
                </a:solidFill>
              </a:rPr>
              <a:t>SNAP equity — monitor after SKU split</a:t>
            </a:r>
          </a:p>
          <a:p>
            <a:endParaRPr lang="en-US" sz="1600" dirty="0">
              <a:solidFill>
                <a:srgbClr val="002060"/>
              </a:solidFill>
              <a:latin typeface="Instrument Sans Medium" pitchFamily="34" charset="0"/>
            </a:endParaRPr>
          </a:p>
          <a:p>
            <a:r>
              <a:rPr lang="en-US" sz="1500" dirty="0">
                <a:solidFill>
                  <a:srgbClr val="002060"/>
                </a:solidFill>
                <a:latin typeface="Instrument Sans Medium" pitchFamily="34" charset="0"/>
              </a:rPr>
              <a:t>The model signals SNAP benefit days accurately at department level. Equity risk shifts to the item split step — if SNAP-basket staples are under-allocated, benefit customers will face stockouts on their primary shopping days.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1ADA9B-7BA9-3D42-B342-551CF5CD1FA4}"/>
              </a:ext>
            </a:extLst>
          </p:cNvPr>
          <p:cNvSpPr txBox="1"/>
          <p:nvPr/>
        </p:nvSpPr>
        <p:spPr>
          <a:xfrm>
            <a:off x="12126686" y="1741707"/>
            <a:ext cx="1850572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Process Risk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C41DFF-2C7F-7A70-4935-B68CD42B738A}"/>
              </a:ext>
            </a:extLst>
          </p:cNvPr>
          <p:cNvSpPr txBox="1"/>
          <p:nvPr/>
        </p:nvSpPr>
        <p:spPr>
          <a:xfrm>
            <a:off x="12126686" y="3029450"/>
            <a:ext cx="1850572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Operational Risk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ACFBCB-9DB1-14A3-E77C-0BB3EA983D78}"/>
              </a:ext>
            </a:extLst>
          </p:cNvPr>
          <p:cNvSpPr txBox="1"/>
          <p:nvPr/>
        </p:nvSpPr>
        <p:spPr>
          <a:xfrm>
            <a:off x="12126686" y="4301869"/>
            <a:ext cx="1850572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Model Risk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452525-12DF-7D2F-094D-23C23E84936A}"/>
              </a:ext>
            </a:extLst>
          </p:cNvPr>
          <p:cNvSpPr txBox="1"/>
          <p:nvPr/>
        </p:nvSpPr>
        <p:spPr>
          <a:xfrm>
            <a:off x="12126686" y="5591854"/>
            <a:ext cx="1850572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Supply Chain Risk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072BAF-885F-83B1-00ED-CE405EC25D55}"/>
              </a:ext>
            </a:extLst>
          </p:cNvPr>
          <p:cNvSpPr txBox="1"/>
          <p:nvPr/>
        </p:nvSpPr>
        <p:spPr>
          <a:xfrm>
            <a:off x="12126686" y="6862031"/>
            <a:ext cx="1850572" cy="369332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Equity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9181" y="616345"/>
            <a:ext cx="11876145" cy="43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800" b="1" dirty="0">
                <a:solidFill>
                  <a:srgbClr val="091C53"/>
                </a:solidFill>
                <a:latin typeface="Instrument Sans Semi Bold" pitchFamily="34" charset="0"/>
              </a:rPr>
              <a:t>9. Bias Audit Results &amp; Next Steps — ROI</a:t>
            </a:r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181B7678-ADC4-8E2F-128F-C0C1F9502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42" y="1547691"/>
            <a:ext cx="7056105" cy="3919458"/>
          </a:xfrm>
          <a:prstGeom prst="rect">
            <a:avLst/>
          </a:prstGeom>
        </p:spPr>
      </p:pic>
      <p:sp>
        <p:nvSpPr>
          <p:cNvPr id="37" name="Text 15">
            <a:extLst>
              <a:ext uri="{FF2B5EF4-FFF2-40B4-BE49-F238E27FC236}">
                <a16:creationId xmlns:a16="http://schemas.microsoft.com/office/drawing/2014/main" id="{1C8DCCB0-44E7-0BC4-B812-DBFC4CC45369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From History to Forecast | Julius Lauren Marasigan | April 2026</a:t>
            </a:r>
            <a:endParaRPr lang="en-US" sz="1000" i="1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8F961D-0436-03F8-72E2-34866187C548}"/>
              </a:ext>
            </a:extLst>
          </p:cNvPr>
          <p:cNvGrpSpPr/>
          <p:nvPr/>
        </p:nvGrpSpPr>
        <p:grpSpPr>
          <a:xfrm>
            <a:off x="435430" y="5688530"/>
            <a:ext cx="13521202" cy="2062164"/>
            <a:chOff x="1654627" y="5088467"/>
            <a:chExt cx="11201401" cy="2565437"/>
          </a:xfrm>
        </p:grpSpPr>
        <p:sp>
          <p:nvSpPr>
            <p:cNvPr id="31" name="Rounded Rectangle 30">
              <a:extLst>
                <a:ext uri="{FF2B5EF4-FFF2-40B4-BE49-F238E27FC236}">
                  <a16:creationId xmlns:a16="http://schemas.microsoft.com/office/drawing/2014/main" id="{013B307C-6D01-E65D-D581-CDC52C14185F}"/>
                </a:ext>
              </a:extLst>
            </p:cNvPr>
            <p:cNvSpPr/>
            <p:nvPr/>
          </p:nvSpPr>
          <p:spPr>
            <a:xfrm>
              <a:off x="1654629" y="5739795"/>
              <a:ext cx="5540828" cy="910802"/>
            </a:xfrm>
            <a:prstGeom prst="roundRect">
              <a:avLst>
                <a:gd name="adj" fmla="val 14356"/>
              </a:avLst>
            </a:prstGeom>
            <a:solidFill>
              <a:srgbClr val="CEE6FD"/>
            </a:solidFill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r>
                <a:rPr lang="en-US" sz="2000" b="1" u="sng" dirty="0">
                  <a:solidFill>
                    <a:srgbClr val="002060"/>
                  </a:solidFill>
                </a:rPr>
                <a:t>Reduce Waste</a:t>
              </a:r>
              <a:endParaRPr lang="en-US" sz="1600" u="sng" dirty="0">
                <a:solidFill>
                  <a:srgbClr val="002060"/>
                </a:solidFill>
              </a:endParaRPr>
            </a:p>
            <a:p>
              <a:pPr>
                <a:lnSpc>
                  <a:spcPts val="2050"/>
                </a:lnSpc>
              </a:pPr>
              <a:r>
                <a:rPr lang="en-US" sz="1400" dirty="0">
                  <a:solidFill>
                    <a:srgbClr val="1E3063"/>
                  </a:solidFill>
                  <a:latin typeface="Instrument Sans Medium" pitchFamily="34" charset="0"/>
                  <a:ea typeface="Instrument Sans Medium" pitchFamily="34" charset="-122"/>
                  <a:cs typeface="Instrument Sans Medium" pitchFamily="34" charset="-120"/>
                </a:rPr>
                <a:t>Fewer over-orders on perishable items – direct write-off cost reduction.</a:t>
              </a:r>
              <a:endParaRPr lang="en-US" sz="1400" dirty="0"/>
            </a:p>
          </p:txBody>
        </p:sp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34058F83-8E82-D90E-2E7A-7A7F3BC48261}"/>
                </a:ext>
              </a:extLst>
            </p:cNvPr>
            <p:cNvSpPr/>
            <p:nvPr/>
          </p:nvSpPr>
          <p:spPr>
            <a:xfrm>
              <a:off x="1654627" y="6743102"/>
              <a:ext cx="5540830" cy="910802"/>
            </a:xfrm>
            <a:prstGeom prst="roundRect">
              <a:avLst>
                <a:gd name="adj" fmla="val 7196"/>
              </a:avLst>
            </a:prstGeom>
            <a:noFill/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pPr>
                <a:lnSpc>
                  <a:spcPts val="2200"/>
                </a:lnSpc>
              </a:pPr>
              <a:r>
                <a:rPr lang="en-US" sz="2000" b="1" u="sng" dirty="0">
                  <a:solidFill>
                    <a:srgbClr val="002060"/>
                  </a:solidFill>
                </a:rPr>
                <a:t>Fewer Stockouts</a:t>
              </a:r>
              <a:endParaRPr lang="en-US" sz="1600" u="sng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endParaRPr>
            </a:p>
            <a:p>
              <a:pPr>
                <a:lnSpc>
                  <a:spcPts val="2050"/>
                </a:lnSpc>
              </a:pPr>
              <a:r>
                <a:rPr lang="en-US" sz="1400" dirty="0">
                  <a:solidFill>
                    <a:srgbClr val="1E3063"/>
                  </a:solidFill>
                  <a:latin typeface="Instrument Sans Medium" pitchFamily="34" charset="0"/>
                </a:rPr>
                <a:t>Accurate Saturday and SNAP signals prevent shelf gaps on peak days.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67058EAF-52AF-CED0-9172-EEF474716A8B}"/>
                </a:ext>
              </a:extLst>
            </p:cNvPr>
            <p:cNvSpPr/>
            <p:nvPr/>
          </p:nvSpPr>
          <p:spPr>
            <a:xfrm>
              <a:off x="7315200" y="5739795"/>
              <a:ext cx="5540828" cy="910802"/>
            </a:xfrm>
            <a:prstGeom prst="roundRect">
              <a:avLst>
                <a:gd name="adj" fmla="val 14356"/>
              </a:avLst>
            </a:prstGeom>
            <a:noFill/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pPr>
                <a:lnSpc>
                  <a:spcPts val="2200"/>
                </a:lnSpc>
              </a:pPr>
              <a:r>
                <a:rPr lang="en-US" sz="2000" b="1" u="sng" dirty="0">
                  <a:solidFill>
                    <a:srgbClr val="002060"/>
                  </a:solidFill>
                </a:rPr>
                <a:t>Planner Efficiency</a:t>
              </a:r>
            </a:p>
            <a:p>
              <a:pPr>
                <a:lnSpc>
                  <a:spcPts val="2050"/>
                </a:lnSpc>
              </a:pPr>
              <a:r>
                <a:rPr lang="en-US" sz="1400" dirty="0">
                  <a:solidFill>
                    <a:srgbClr val="1E3063"/>
                  </a:solidFill>
                  <a:latin typeface="Instrument Sans Medium" pitchFamily="34" charset="0"/>
                </a:rPr>
                <a:t>Statistical signal replaces manual tracking — planners focus on exceptions.</a:t>
              </a:r>
            </a:p>
          </p:txBody>
        </p: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053A1B2D-310C-9AD8-CFBC-3D18DC91CB18}"/>
                </a:ext>
              </a:extLst>
            </p:cNvPr>
            <p:cNvSpPr/>
            <p:nvPr/>
          </p:nvSpPr>
          <p:spPr>
            <a:xfrm>
              <a:off x="7315198" y="6743101"/>
              <a:ext cx="5540830" cy="910802"/>
            </a:xfrm>
            <a:prstGeom prst="roundRect">
              <a:avLst>
                <a:gd name="adj" fmla="val 7196"/>
              </a:avLst>
            </a:prstGeom>
            <a:solidFill>
              <a:srgbClr val="CEE6FD"/>
            </a:solidFill>
            <a:ln>
              <a:solidFill>
                <a:srgbClr val="002060"/>
              </a:solidFill>
            </a:ln>
          </p:spPr>
          <p:txBody>
            <a:bodyPr rtlCol="0" anchor="ctr"/>
            <a:lstStyle/>
            <a:p>
              <a:r>
                <a:rPr lang="en-US" sz="2000" b="1" u="sng" dirty="0">
                  <a:solidFill>
                    <a:srgbClr val="002060"/>
                  </a:solidFill>
                </a:rPr>
                <a:t>SNAP Service</a:t>
              </a:r>
            </a:p>
            <a:p>
              <a:pPr>
                <a:lnSpc>
                  <a:spcPts val="2050"/>
                </a:lnSpc>
              </a:pPr>
              <a:r>
                <a:rPr lang="en-US" sz="1400" dirty="0">
                  <a:solidFill>
                    <a:srgbClr val="1E3063"/>
                  </a:solidFill>
                  <a:latin typeface="Instrument Sans Medium" pitchFamily="34" charset="0"/>
                </a:rPr>
                <a:t>Accurate SNAP day signals confirmed — equity maintained at dept level.</a:t>
              </a:r>
            </a:p>
          </p:txBody>
        </p:sp>
        <p:sp>
          <p:nvSpPr>
            <p:cNvPr id="38" name="Text 1">
              <a:extLst>
                <a:ext uri="{FF2B5EF4-FFF2-40B4-BE49-F238E27FC236}">
                  <a16:creationId xmlns:a16="http://schemas.microsoft.com/office/drawing/2014/main" id="{BE7854BC-58C0-2B50-2ECE-D2AE70E23B9C}"/>
                </a:ext>
              </a:extLst>
            </p:cNvPr>
            <p:cNvSpPr/>
            <p:nvPr/>
          </p:nvSpPr>
          <p:spPr>
            <a:xfrm>
              <a:off x="6695558" y="5088467"/>
              <a:ext cx="1078553" cy="55882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3300"/>
                </a:lnSpc>
                <a:buNone/>
              </a:pPr>
              <a:r>
                <a:rPr lang="en-US" sz="2650" b="1" dirty="0">
                  <a:solidFill>
                    <a:srgbClr val="002060"/>
                  </a:solidFill>
                  <a:latin typeface="Instrument Sans Semi Bold" pitchFamily="34" charset="0"/>
                  <a:ea typeface="Instrument Sans Semi Bold" pitchFamily="34" charset="-122"/>
                  <a:cs typeface="Instrument Sans Semi Bold" pitchFamily="34" charset="-120"/>
                </a:rPr>
                <a:t>ROI</a:t>
              </a:r>
              <a:endParaRPr lang="en-US" sz="2650" b="1" dirty="0">
                <a:solidFill>
                  <a:srgbClr val="002060"/>
                </a:solidFill>
              </a:endParaRPr>
            </a:p>
          </p:txBody>
        </p:sp>
      </p:grpSp>
      <p:graphicFrame>
        <p:nvGraphicFramePr>
          <p:cNvPr id="40" name="Diagram 39">
            <a:extLst>
              <a:ext uri="{FF2B5EF4-FFF2-40B4-BE49-F238E27FC236}">
                <a16:creationId xmlns:a16="http://schemas.microsoft.com/office/drawing/2014/main" id="{E58EE428-E382-1A27-E5F6-3F34A86DD7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20477701"/>
              </p:ext>
            </p:extLst>
          </p:nvPr>
        </p:nvGraphicFramePr>
        <p:xfrm>
          <a:off x="8204393" y="1400585"/>
          <a:ext cx="6974647" cy="4588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1" name="Text 1">
            <a:extLst>
              <a:ext uri="{FF2B5EF4-FFF2-40B4-BE49-F238E27FC236}">
                <a16:creationId xmlns:a16="http://schemas.microsoft.com/office/drawing/2014/main" id="{7699494E-B382-3908-0D08-B9E2DA9E3FD3}"/>
              </a:ext>
            </a:extLst>
          </p:cNvPr>
          <p:cNvSpPr/>
          <p:nvPr/>
        </p:nvSpPr>
        <p:spPr>
          <a:xfrm>
            <a:off x="7372400" y="1556055"/>
            <a:ext cx="4319316" cy="449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206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Deployment Roadmap</a:t>
            </a:r>
            <a:endParaRPr lang="en-US" sz="2650" b="1" dirty="0">
              <a:solidFill>
                <a:srgbClr val="002060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BFD661F9-0B01-27A6-9A18-8263D624696C}"/>
              </a:ext>
            </a:extLst>
          </p:cNvPr>
          <p:cNvSpPr/>
          <p:nvPr/>
        </p:nvSpPr>
        <p:spPr>
          <a:xfrm>
            <a:off x="7529371" y="1472665"/>
            <a:ext cx="6849488" cy="4064175"/>
          </a:xfrm>
          <a:prstGeom prst="roundRect">
            <a:avLst>
              <a:gd name="adj" fmla="val 2547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endParaRPr lang="en-US" sz="1500" dirty="0">
              <a:solidFill>
                <a:srgbClr val="002060"/>
              </a:solidFill>
              <a:latin typeface="Instrument Sans Medium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6EBF7-6848-4886-B18A-3E461F86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1B1130-3A97-C09A-C7DC-95A6FAE6038A}"/>
              </a:ext>
            </a:extLst>
          </p:cNvPr>
          <p:cNvSpPr/>
          <p:nvPr/>
        </p:nvSpPr>
        <p:spPr>
          <a:xfrm>
            <a:off x="608806" y="755201"/>
            <a:ext cx="11876145" cy="683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000" b="1" u="sng" dirty="0">
                <a:solidFill>
                  <a:srgbClr val="091C53"/>
                </a:solidFill>
                <a:latin typeface="Instrument Sans Semi Bold" pitchFamily="34" charset="0"/>
              </a:rPr>
              <a:t>The Bottom Line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2D4FDBE-104C-B478-6909-BD835D9645E3}"/>
              </a:ext>
            </a:extLst>
          </p:cNvPr>
          <p:cNvSpPr/>
          <p:nvPr/>
        </p:nvSpPr>
        <p:spPr>
          <a:xfrm>
            <a:off x="1560496" y="1984295"/>
            <a:ext cx="12482760" cy="683280"/>
          </a:xfrm>
          <a:prstGeom prst="roundRect">
            <a:avLst>
              <a:gd name="adj" fmla="val 7119"/>
            </a:avLst>
          </a:prstGeom>
          <a:solidFill>
            <a:srgbClr val="CEE6FD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dirty="0">
                <a:solidFill>
                  <a:srgbClr val="002060"/>
                </a:solidFill>
                <a:latin typeface="Instrument Sans Medium" pitchFamily="34" charset="0"/>
              </a:rPr>
              <a:t>Machine learning significantly outperforms every traditional method across all three departments at CA_3.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815FC11-1839-C0D3-CD29-77C4715A978C}"/>
              </a:ext>
            </a:extLst>
          </p:cNvPr>
          <p:cNvSpPr/>
          <p:nvPr/>
        </p:nvSpPr>
        <p:spPr>
          <a:xfrm>
            <a:off x="1560499" y="2922758"/>
            <a:ext cx="12482760" cy="683280"/>
          </a:xfrm>
          <a:prstGeom prst="roundRect">
            <a:avLst>
              <a:gd name="adj" fmla="val 7119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dirty="0">
                <a:solidFill>
                  <a:srgbClr val="002060"/>
                </a:solidFill>
                <a:latin typeface="Instrument Sans Medium" pitchFamily="34" charset="0"/>
              </a:rPr>
              <a:t>FOODS_2 at 8.8% error is the most reliable — its demand signal can feed directly into supply planning with light planner review.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CCBB6D-8808-D555-1D3A-D61ED1E0700A}"/>
              </a:ext>
            </a:extLst>
          </p:cNvPr>
          <p:cNvSpPr/>
          <p:nvPr/>
        </p:nvSpPr>
        <p:spPr>
          <a:xfrm>
            <a:off x="1560498" y="3861221"/>
            <a:ext cx="12482760" cy="683280"/>
          </a:xfrm>
          <a:prstGeom prst="roundRect">
            <a:avLst>
              <a:gd name="adj" fmla="val 7119"/>
            </a:avLst>
          </a:prstGeom>
          <a:solidFill>
            <a:srgbClr val="CEE6FD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dirty="0">
                <a:solidFill>
                  <a:srgbClr val="002060"/>
                </a:solidFill>
                <a:latin typeface="Instrument Sans Medium" pitchFamily="34" charset="0"/>
              </a:rPr>
              <a:t>FOODS_1 and FOODS_3 issues are known, flagged, and correctable with specific planner interventions before supply planning.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FB7D2A-AD46-82A6-424C-422AB9E6EEA2}"/>
              </a:ext>
            </a:extLst>
          </p:cNvPr>
          <p:cNvSpPr/>
          <p:nvPr/>
        </p:nvSpPr>
        <p:spPr>
          <a:xfrm>
            <a:off x="1560497" y="4799684"/>
            <a:ext cx="12482760" cy="683280"/>
          </a:xfrm>
          <a:prstGeom prst="roundRect">
            <a:avLst>
              <a:gd name="adj" fmla="val 7119"/>
            </a:avLst>
          </a:prstGeom>
          <a:noFill/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dirty="0">
                <a:solidFill>
                  <a:srgbClr val="002060"/>
                </a:solidFill>
                <a:latin typeface="Instrument Sans Medium" pitchFamily="34" charset="0"/>
              </a:rPr>
              <a:t>The output is a demand signal — supply planners must cross-check against on-hand stock and in-transit inventory before any order is placed.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FEF464-8BF1-F80C-00C2-990FC01CE356}"/>
              </a:ext>
            </a:extLst>
          </p:cNvPr>
          <p:cNvSpPr/>
          <p:nvPr/>
        </p:nvSpPr>
        <p:spPr>
          <a:xfrm>
            <a:off x="1560496" y="5738147"/>
            <a:ext cx="12482760" cy="683280"/>
          </a:xfrm>
          <a:prstGeom prst="roundRect">
            <a:avLst>
              <a:gd name="adj" fmla="val 7119"/>
            </a:avLst>
          </a:prstGeom>
          <a:solidFill>
            <a:srgbClr val="CEE6FD"/>
          </a:solidFill>
          <a:ln>
            <a:solidFill>
              <a:srgbClr val="002060"/>
            </a:solidFill>
          </a:ln>
        </p:spPr>
        <p:txBody>
          <a:bodyPr rtlCol="0" anchor="ctr"/>
          <a:lstStyle/>
          <a:p>
            <a:r>
              <a:rPr lang="en-US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SKU-level demand split is the immediate next step to make the signal actionable at the individual item ordering level.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131205-64B0-FA83-39D7-7A32F7C1C7C0}"/>
              </a:ext>
            </a:extLst>
          </p:cNvPr>
          <p:cNvSpPr/>
          <p:nvPr/>
        </p:nvSpPr>
        <p:spPr>
          <a:xfrm>
            <a:off x="856649" y="2037177"/>
            <a:ext cx="567891" cy="57751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✓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5F3E10D-140E-E34C-FB11-369598E02282}"/>
              </a:ext>
            </a:extLst>
          </p:cNvPr>
          <p:cNvSpPr/>
          <p:nvPr/>
        </p:nvSpPr>
        <p:spPr>
          <a:xfrm>
            <a:off x="856649" y="2975640"/>
            <a:ext cx="567891" cy="57751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✓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FBB9C03-5B8E-A315-02B6-26C2EC767A4E}"/>
              </a:ext>
            </a:extLst>
          </p:cNvPr>
          <p:cNvSpPr/>
          <p:nvPr/>
        </p:nvSpPr>
        <p:spPr>
          <a:xfrm>
            <a:off x="856648" y="3914103"/>
            <a:ext cx="567891" cy="577516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✓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1583C4F-3DF1-E79A-C3FA-C1C037B02DC6}"/>
              </a:ext>
            </a:extLst>
          </p:cNvPr>
          <p:cNvSpPr/>
          <p:nvPr/>
        </p:nvSpPr>
        <p:spPr>
          <a:xfrm>
            <a:off x="856647" y="4852566"/>
            <a:ext cx="567891" cy="5775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99C30C-715B-3511-5BF4-C190ABE89CC2}"/>
              </a:ext>
            </a:extLst>
          </p:cNvPr>
          <p:cNvSpPr/>
          <p:nvPr/>
        </p:nvSpPr>
        <p:spPr>
          <a:xfrm>
            <a:off x="856647" y="5787707"/>
            <a:ext cx="567891" cy="577516"/>
          </a:xfrm>
          <a:prstGeom prst="ellipse">
            <a:avLst/>
          </a:prstGeom>
          <a:solidFill>
            <a:srgbClr val="CEE6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→</a:t>
            </a:r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4390C73D-2B5F-EBED-834B-79EF887E8B1E}"/>
              </a:ext>
            </a:extLst>
          </p:cNvPr>
          <p:cNvSpPr/>
          <p:nvPr/>
        </p:nvSpPr>
        <p:spPr>
          <a:xfrm>
            <a:off x="162419" y="7902382"/>
            <a:ext cx="13042821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github.com/juliuslauren13/walmarts-foods-forecasting  |  M5 Capstone  |  April 2026</a:t>
            </a:r>
          </a:p>
        </p:txBody>
      </p:sp>
    </p:spTree>
    <p:extLst>
      <p:ext uri="{BB962C8B-B14F-4D97-AF65-F5344CB8AC3E}">
        <p14:creationId xmlns:p14="http://schemas.microsoft.com/office/powerpoint/2010/main" val="1695753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202</TotalTime>
  <Words>2025</Words>
  <Application>Microsoft Macintosh PowerPoint</Application>
  <PresentationFormat>Custom</PresentationFormat>
  <Paragraphs>256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Instrument Sans Semi Bold</vt:lpstr>
      <vt:lpstr>Arial</vt:lpstr>
      <vt:lpstr>Calibri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Julius Marasigan</cp:lastModifiedBy>
  <cp:revision>8</cp:revision>
  <dcterms:created xsi:type="dcterms:W3CDTF">2026-04-12T18:25:30Z</dcterms:created>
  <dcterms:modified xsi:type="dcterms:W3CDTF">2026-04-12T21:47:50Z</dcterms:modified>
</cp:coreProperties>
</file>