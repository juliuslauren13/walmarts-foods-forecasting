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</p:sldIdLst>
  <p:sldSz cx="14630400" cy="8229600"/>
  <p:notesSz cx="8229600" cy="14630400"/>
  <p:embeddedFontLst>
    <p:embeddedFont>
      <p:font typeface="Instrument Sans Medium" pitchFamily="2" charset="0"/>
      <p:regular r:id="rId20"/>
    </p:embeddedFont>
    <p:embeddedFont>
      <p:font typeface="Instrument Sans Semi Bold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5FE"/>
    <a:srgbClr val="CEE6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4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9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4B71-6E61-5C73-9A55-C91FCE03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D4DD8-2A0F-593C-142D-8F359A320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6C810-EA6E-675A-0249-1DB6B1124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F4C60-87BE-DAAA-9C13-F0BBECCCC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54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A6B2-A8A9-EB17-686E-020F0D014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B6D59-A96A-711F-F5D8-790EBB086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5B508-EF1D-EAAC-73F4-45953BAFB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A5682-598C-E584-10C7-C7D9DEC1C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95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D037-E584-2E4B-838A-036327D4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35F99-34C6-8E3E-EBE5-D4DFA1EC4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CCB6C-3276-3752-8B09-3E63A1052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80B1F-EB05-7A49-9B59-27DBA8F4C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6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4353-0A8D-5234-7D7A-908CDDA1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20AEF-67BF-186B-DC4E-629F3A01F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579FD-7844-9C63-F4C4-D7842FCB6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45F91-EA20-9F7C-9F6C-97BCF47A6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82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C6CC5-6295-5EEA-857C-24F70DB02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2417C-CF44-041B-9D91-4C8B737F7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5E851-D3C9-BCBE-88F1-8A8317FC7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DEE73-B421-C0CD-45FB-6AE1409DB4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58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8688-4BEA-1346-5256-CBB68A13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02FE9-AA58-C2A3-DA0D-5660657E0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97568-E594-9512-BD5A-394E88BA5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C907C-3D1D-13CB-52F8-9946C9D02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67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4050A-7874-FA0D-A644-38FBBC761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45928-6512-612D-D942-2B552FD47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255C5-2E37-BABD-EF14-A29D4BAAE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64218-2678-445A-4EF2-06CBE7136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39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DEBD-EB11-71D1-5B41-06AE46E5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8DB4D-0D4F-C7CB-49AB-AEF6F13F0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75137-9E8A-2629-CC5D-D758DDB5A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8AE51-5E2F-A9B0-5EC7-01354ADCDB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23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4D93-73A8-4946-E280-5D294225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FF6CB-E4CF-4BBE-FCE7-C63E25F31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8330D-D661-194C-FCB6-038E8FF19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76D0F-0826-F321-1B42-41E912F54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2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6449A-839C-954F-24E3-27887D26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29E57-B48C-26FB-9C31-B2C941864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A73B6-9FA1-3DC5-5DFA-3650B01D9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B9D50-1F0C-933D-5410-517CB8046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91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32806-A198-F9C8-892E-F50BAC26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BB192-86F5-0FC5-8EED-F38C41DB0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19343-5C84-4E15-5D12-AD9E69C44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CC1C3-BCD4-D4D6-48EA-2394B5723D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42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473A-1C57-5FDF-16C2-70757004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85C73-FDB7-E595-0C7C-EDC2B399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8FE32-85B6-A719-3B30-500AB94CC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94AA1-ADC2-16DD-4DFB-07F61899A8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8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9C99-5A94-8DFD-F7B8-01249D06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1EFD2-F8B1-73D0-E9CB-0FDB3A9D4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EEC21-C8DE-7E99-A80E-8B1537431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BC30E-651C-4AFE-794F-ECD487F99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845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9EC7-F7FA-50C4-84F7-DCD1B182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9A960-E7EF-B0F8-042F-073437FB0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E009E-8425-C055-168A-68618DC2B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4E0C4-452C-61D9-D0A9-544B7EFCD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11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FC4B-0E2E-1B0E-0E83-6FC0764A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8C7F3-CCBB-FBE3-D769-CE5F288FB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8C414-EE67-3D22-14F7-C19A3FA93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EF960-AAF3-00DC-49E7-88533DE91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3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2239"/>
            <a:ext cx="115863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From History to Forecast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1571744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PH" sz="2650" dirty="0">
                <a:solidFill>
                  <a:srgbClr val="091C53"/>
                </a:solidFill>
                <a:latin typeface="Instrument Sans Semi Bold" pitchFamily="34" charset="0"/>
              </a:rPr>
              <a:t>A Machine Learning Approach to Daily Food Demand Forecasting</a:t>
            </a:r>
          </a:p>
          <a:p>
            <a:pPr marL="0" indent="0" algn="l">
              <a:lnSpc>
                <a:spcPts val="3300"/>
              </a:lnSpc>
              <a:buNone/>
            </a:pPr>
            <a:r>
              <a:rPr lang="en-PH" sz="2650" dirty="0">
                <a:solidFill>
                  <a:srgbClr val="091C53"/>
                </a:solidFill>
                <a:latin typeface="Instrument Sans Semi Bold" pitchFamily="34" charset="0"/>
              </a:rPr>
              <a:t>at Walmart CA_3 Using the M5 Dataset</a:t>
            </a:r>
          </a:p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7624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 Presentation | For  Peers and  Other Data Professionals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92677" y="70944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Julius Lauren Marasigan | Post-Graduate Diploma in Artificial Intelligence and Machine Learning | April 2026</a:t>
            </a:r>
            <a:endParaRPr lang="en-US" sz="17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62122EE-D4BC-F9D4-B522-36F53222FF48}"/>
              </a:ext>
            </a:extLst>
          </p:cNvPr>
          <p:cNvGrpSpPr/>
          <p:nvPr/>
        </p:nvGrpSpPr>
        <p:grpSpPr>
          <a:xfrm>
            <a:off x="2499923" y="3432332"/>
            <a:ext cx="9245781" cy="2855870"/>
            <a:chOff x="2499927" y="3352205"/>
            <a:chExt cx="9245781" cy="2855870"/>
          </a:xfrm>
          <a:solidFill>
            <a:srgbClr val="DED5FE"/>
          </a:solidFill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E281E85-5782-181A-6FE1-603B5155D9DB}"/>
                </a:ext>
              </a:extLst>
            </p:cNvPr>
            <p:cNvGrpSpPr/>
            <p:nvPr/>
          </p:nvGrpSpPr>
          <p:grpSpPr>
            <a:xfrm>
              <a:off x="2499927" y="3352205"/>
              <a:ext cx="9245781" cy="1306949"/>
              <a:chOff x="2499927" y="3352205"/>
              <a:chExt cx="9245781" cy="1306949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2D27C68-64F7-F6A7-CD04-21588C7C6D24}"/>
                  </a:ext>
                </a:extLst>
              </p:cNvPr>
              <p:cNvGrpSpPr/>
              <p:nvPr/>
            </p:nvGrpSpPr>
            <p:grpSpPr>
              <a:xfrm>
                <a:off x="2499927" y="3352205"/>
                <a:ext cx="2930717" cy="1306949"/>
                <a:chOff x="793790" y="3380542"/>
                <a:chExt cx="2930717" cy="1306949"/>
              </a:xfrm>
              <a:grpFill/>
            </p:grpSpPr>
            <p:sp>
              <p:nvSpPr>
                <p:cNvPr id="5" name="Shape 3"/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grpFill/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" name="Text 4"/>
                <p:cNvSpPr/>
                <p:nvPr/>
              </p:nvSpPr>
              <p:spPr>
                <a:xfrm>
                  <a:off x="1330941" y="3474185"/>
                  <a:ext cx="1856410" cy="354330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  <a:ea typeface="Instrument Sans Semi Bold" pitchFamily="34" charset="-122"/>
                      <a:cs typeface="Instrument Sans Semi Bold" pitchFamily="34" charset="-120"/>
                    </a:rPr>
                    <a:t>Store Scope</a:t>
                  </a:r>
                  <a:endParaRPr lang="en-US" dirty="0"/>
                </a:p>
              </p:txBody>
            </p:sp>
            <p:sp>
              <p:nvSpPr>
                <p:cNvPr id="7" name="Text 5"/>
                <p:cNvSpPr/>
                <p:nvPr/>
              </p:nvSpPr>
              <p:spPr>
                <a:xfrm>
                  <a:off x="1548390" y="4070487"/>
                  <a:ext cx="1421513" cy="362903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8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CA_3</a:t>
                  </a:r>
                  <a:endParaRPr lang="en-US" sz="2800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58637E5-F9BD-49F6-DDA2-D5D9F3B88084}"/>
                  </a:ext>
                </a:extLst>
              </p:cNvPr>
              <p:cNvGrpSpPr/>
              <p:nvPr/>
            </p:nvGrpSpPr>
            <p:grpSpPr>
              <a:xfrm>
                <a:off x="5657459" y="3352205"/>
                <a:ext cx="2930717" cy="1306949"/>
                <a:chOff x="793790" y="3380542"/>
                <a:chExt cx="2930717" cy="1306949"/>
              </a:xfrm>
              <a:grpFill/>
            </p:grpSpPr>
            <p:sp>
              <p:nvSpPr>
                <p:cNvPr id="25" name="Shape 3">
                  <a:extLst>
                    <a:ext uri="{FF2B5EF4-FFF2-40B4-BE49-F238E27FC236}">
                      <a16:creationId xmlns:a16="http://schemas.microsoft.com/office/drawing/2014/main" id="{80A66527-6599-7571-D92B-C20F8549803C}"/>
                    </a:ext>
                  </a:extLst>
                </p:cNvPr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grpFill/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Text 4">
                  <a:extLst>
                    <a:ext uri="{FF2B5EF4-FFF2-40B4-BE49-F238E27FC236}">
                      <a16:creationId xmlns:a16="http://schemas.microsoft.com/office/drawing/2014/main" id="{E350B7EC-75D6-7DCF-F111-7439ED5184A5}"/>
                    </a:ext>
                  </a:extLst>
                </p:cNvPr>
                <p:cNvSpPr/>
                <p:nvPr/>
              </p:nvSpPr>
              <p:spPr>
                <a:xfrm>
                  <a:off x="1330941" y="3474185"/>
                  <a:ext cx="1856410" cy="354330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  <a:ea typeface="Instrument Sans Semi Bold" pitchFamily="34" charset="-122"/>
                      <a:cs typeface="Instrument Sans Semi Bold" pitchFamily="34" charset="-120"/>
                    </a:rPr>
                    <a:t>Category</a:t>
                  </a:r>
                  <a:endParaRPr lang="en-US" dirty="0"/>
                </a:p>
              </p:txBody>
            </p:sp>
            <p:sp>
              <p:nvSpPr>
                <p:cNvPr id="27" name="Text 5">
                  <a:extLst>
                    <a:ext uri="{FF2B5EF4-FFF2-40B4-BE49-F238E27FC236}">
                      <a16:creationId xmlns:a16="http://schemas.microsoft.com/office/drawing/2014/main" id="{03D2153C-34DA-FC3F-23FE-0D707F94D977}"/>
                    </a:ext>
                  </a:extLst>
                </p:cNvPr>
                <p:cNvSpPr/>
                <p:nvPr/>
              </p:nvSpPr>
              <p:spPr>
                <a:xfrm>
                  <a:off x="1548390" y="4070487"/>
                  <a:ext cx="1421513" cy="362903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8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FOODS</a:t>
                  </a:r>
                  <a:endParaRPr lang="en-US" sz="2800" dirty="0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50E73AA-F3B3-69B4-A40C-65D914257651}"/>
                  </a:ext>
                </a:extLst>
              </p:cNvPr>
              <p:cNvGrpSpPr/>
              <p:nvPr/>
            </p:nvGrpSpPr>
            <p:grpSpPr>
              <a:xfrm>
                <a:off x="8814991" y="3352205"/>
                <a:ext cx="2930717" cy="1306949"/>
                <a:chOff x="793790" y="3380542"/>
                <a:chExt cx="2930717" cy="1306949"/>
              </a:xfrm>
              <a:grpFill/>
            </p:grpSpPr>
            <p:sp>
              <p:nvSpPr>
                <p:cNvPr id="29" name="Shape 3">
                  <a:extLst>
                    <a:ext uri="{FF2B5EF4-FFF2-40B4-BE49-F238E27FC236}">
                      <a16:creationId xmlns:a16="http://schemas.microsoft.com/office/drawing/2014/main" id="{E7D57362-E836-B152-F6A1-3F7372C5C1B1}"/>
                    </a:ext>
                  </a:extLst>
                </p:cNvPr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grpFill/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Text 4">
                  <a:extLst>
                    <a:ext uri="{FF2B5EF4-FFF2-40B4-BE49-F238E27FC236}">
                      <a16:creationId xmlns:a16="http://schemas.microsoft.com/office/drawing/2014/main" id="{B4765E89-E2B8-DF9B-3D1F-B531BA3F5F0D}"/>
                    </a:ext>
                  </a:extLst>
                </p:cNvPr>
                <p:cNvSpPr/>
                <p:nvPr/>
              </p:nvSpPr>
              <p:spPr>
                <a:xfrm>
                  <a:off x="1330943" y="3470802"/>
                  <a:ext cx="1856410" cy="354330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  <a:ea typeface="Instrument Sans Semi Bold" pitchFamily="34" charset="-122"/>
                      <a:cs typeface="Instrument Sans Semi Bold" pitchFamily="34" charset="-120"/>
                    </a:rPr>
                    <a:t>Departments</a:t>
                  </a:r>
                  <a:endParaRPr lang="en-US" dirty="0"/>
                </a:p>
              </p:txBody>
            </p:sp>
            <p:sp>
              <p:nvSpPr>
                <p:cNvPr id="31" name="Text 5">
                  <a:extLst>
                    <a:ext uri="{FF2B5EF4-FFF2-40B4-BE49-F238E27FC236}">
                      <a16:creationId xmlns:a16="http://schemas.microsoft.com/office/drawing/2014/main" id="{2D59216D-20FD-C94F-D68D-86D5346ABDB5}"/>
                    </a:ext>
                  </a:extLst>
                </p:cNvPr>
                <p:cNvSpPr/>
                <p:nvPr/>
              </p:nvSpPr>
              <p:spPr>
                <a:xfrm>
                  <a:off x="841530" y="3879679"/>
                  <a:ext cx="2835235" cy="704347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algn="ctr">
                    <a:lnSpc>
                      <a:spcPts val="2850"/>
                    </a:lnSpc>
                  </a:pPr>
                  <a:r>
                    <a:rPr lang="en-US" sz="20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FOODS_1 | FOODS_2 |   </a:t>
                  </a:r>
                </a:p>
                <a:p>
                  <a:pPr algn="ctr">
                    <a:lnSpc>
                      <a:spcPts val="2850"/>
                    </a:lnSpc>
                  </a:pPr>
                  <a:r>
                    <a:rPr lang="en-US" sz="20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FOODS_3</a:t>
                  </a:r>
                  <a:endParaRPr lang="en-US" sz="2000" dirty="0"/>
                </a:p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0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 </a:t>
                  </a:r>
                  <a:endParaRPr lang="en-US" sz="2000" dirty="0"/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374EF7F-10FB-DD69-9A00-6E42977B9268}"/>
                </a:ext>
              </a:extLst>
            </p:cNvPr>
            <p:cNvGrpSpPr/>
            <p:nvPr/>
          </p:nvGrpSpPr>
          <p:grpSpPr>
            <a:xfrm>
              <a:off x="4083375" y="4901126"/>
              <a:ext cx="6078878" cy="1306949"/>
              <a:chOff x="4115907" y="4914304"/>
              <a:chExt cx="6078878" cy="1306949"/>
            </a:xfrm>
            <a:grpFill/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C19F8DC-D8FB-C1E7-1841-B351C9E39162}"/>
                  </a:ext>
                </a:extLst>
              </p:cNvPr>
              <p:cNvGrpSpPr/>
              <p:nvPr/>
            </p:nvGrpSpPr>
            <p:grpSpPr>
              <a:xfrm>
                <a:off x="4115907" y="4914304"/>
                <a:ext cx="2930717" cy="1306949"/>
                <a:chOff x="793790" y="3380542"/>
                <a:chExt cx="2930717" cy="1306949"/>
              </a:xfrm>
              <a:grpFill/>
            </p:grpSpPr>
            <p:sp>
              <p:nvSpPr>
                <p:cNvPr id="33" name="Shape 3">
                  <a:extLst>
                    <a:ext uri="{FF2B5EF4-FFF2-40B4-BE49-F238E27FC236}">
                      <a16:creationId xmlns:a16="http://schemas.microsoft.com/office/drawing/2014/main" id="{F4F4D2B3-7756-7901-B119-CC02F4747234}"/>
                    </a:ext>
                  </a:extLst>
                </p:cNvPr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grpFill/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Text 4">
                  <a:extLst>
                    <a:ext uri="{FF2B5EF4-FFF2-40B4-BE49-F238E27FC236}">
                      <a16:creationId xmlns:a16="http://schemas.microsoft.com/office/drawing/2014/main" id="{F1BCB89E-1BAF-923D-2AA4-7B726F84DBC7}"/>
                    </a:ext>
                  </a:extLst>
                </p:cNvPr>
                <p:cNvSpPr/>
                <p:nvPr/>
              </p:nvSpPr>
              <p:spPr>
                <a:xfrm>
                  <a:off x="1330941" y="3474185"/>
                  <a:ext cx="1856410" cy="354330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  <a:ea typeface="Instrument Sans Semi Bold" pitchFamily="34" charset="-122"/>
                      <a:cs typeface="Instrument Sans Semi Bold" pitchFamily="34" charset="-120"/>
                    </a:rPr>
                    <a:t>Forecast Horizon</a:t>
                  </a:r>
                  <a:endParaRPr lang="en-US" dirty="0"/>
                </a:p>
              </p:txBody>
            </p:sp>
            <p:sp>
              <p:nvSpPr>
                <p:cNvPr id="35" name="Text 5">
                  <a:extLst>
                    <a:ext uri="{FF2B5EF4-FFF2-40B4-BE49-F238E27FC236}">
                      <a16:creationId xmlns:a16="http://schemas.microsoft.com/office/drawing/2014/main" id="{57567554-EF92-4957-86B3-7E8358E26CEB}"/>
                    </a:ext>
                  </a:extLst>
                </p:cNvPr>
                <p:cNvSpPr/>
                <p:nvPr/>
              </p:nvSpPr>
              <p:spPr>
                <a:xfrm>
                  <a:off x="1548390" y="4070487"/>
                  <a:ext cx="1421513" cy="362903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8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28 Days Daily</a:t>
                  </a:r>
                  <a:endParaRPr lang="en-US" sz="2800" dirty="0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82AD20B-09B5-476B-1710-8A2EF13387DF}"/>
                  </a:ext>
                </a:extLst>
              </p:cNvPr>
              <p:cNvGrpSpPr/>
              <p:nvPr/>
            </p:nvGrpSpPr>
            <p:grpSpPr>
              <a:xfrm>
                <a:off x="7264068" y="4914304"/>
                <a:ext cx="2930717" cy="1306949"/>
                <a:chOff x="793790" y="3380542"/>
                <a:chExt cx="2930717" cy="1306949"/>
              </a:xfrm>
              <a:grpFill/>
            </p:grpSpPr>
            <p:sp>
              <p:nvSpPr>
                <p:cNvPr id="37" name="Shape 3">
                  <a:extLst>
                    <a:ext uri="{FF2B5EF4-FFF2-40B4-BE49-F238E27FC236}">
                      <a16:creationId xmlns:a16="http://schemas.microsoft.com/office/drawing/2014/main" id="{D1C9D8F3-91BA-D232-D6FC-666AEA9D60FE}"/>
                    </a:ext>
                  </a:extLst>
                </p:cNvPr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grpFill/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Text 4">
                  <a:extLst>
                    <a:ext uri="{FF2B5EF4-FFF2-40B4-BE49-F238E27FC236}">
                      <a16:creationId xmlns:a16="http://schemas.microsoft.com/office/drawing/2014/main" id="{E2B0EB65-9859-C8C8-E2BA-C97815FCF033}"/>
                    </a:ext>
                  </a:extLst>
                </p:cNvPr>
                <p:cNvSpPr/>
                <p:nvPr/>
              </p:nvSpPr>
              <p:spPr>
                <a:xfrm>
                  <a:off x="1330941" y="3474185"/>
                  <a:ext cx="1856410" cy="354330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</a:rPr>
                    <a:t>Period</a:t>
                  </a:r>
                  <a:endParaRPr lang="en-US" dirty="0"/>
                </a:p>
              </p:txBody>
            </p:sp>
            <p:sp>
              <p:nvSpPr>
                <p:cNvPr id="39" name="Text 5">
                  <a:extLst>
                    <a:ext uri="{FF2B5EF4-FFF2-40B4-BE49-F238E27FC236}">
                      <a16:creationId xmlns:a16="http://schemas.microsoft.com/office/drawing/2014/main" id="{F2014E92-313D-67D1-BC39-E6A73976E278}"/>
                    </a:ext>
                  </a:extLst>
                </p:cNvPr>
                <p:cNvSpPr/>
                <p:nvPr/>
              </p:nvSpPr>
              <p:spPr>
                <a:xfrm>
                  <a:off x="1548390" y="4070487"/>
                  <a:ext cx="1421513" cy="362903"/>
                </a:xfrm>
                <a:prstGeom prst="rect">
                  <a:avLst/>
                </a:prstGeom>
                <a:grp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0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Apr 25 – May 22, 2016</a:t>
                  </a:r>
                  <a:endParaRPr lang="en-US" sz="2000" dirty="0"/>
                </a:p>
              </p:txBody>
            </p:sp>
          </p:grp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E503CBE-0AC0-84E9-5E90-E1488D2D06EA}"/>
              </a:ext>
            </a:extLst>
          </p:cNvPr>
          <p:cNvSpPr txBox="1"/>
          <p:nvPr/>
        </p:nvSpPr>
        <p:spPr>
          <a:xfrm>
            <a:off x="6092792" y="29549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Problem &amp; Data Overview</a:t>
            </a:r>
            <a:endParaRPr lang="en-US" sz="3100" b="1" dirty="0"/>
          </a:p>
        </p:txBody>
      </p:sp>
      <p:sp>
        <p:nvSpPr>
          <p:cNvPr id="9" name="Text 7"/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E45868A-4FCD-40F4-A1A0-7EE254B2A8E5}"/>
              </a:ext>
            </a:extLst>
          </p:cNvPr>
          <p:cNvSpPr/>
          <p:nvPr/>
        </p:nvSpPr>
        <p:spPr>
          <a:xfrm>
            <a:off x="377800" y="1576026"/>
            <a:ext cx="5435859" cy="5175530"/>
          </a:xfrm>
          <a:prstGeom prst="roundRect">
            <a:avLst>
              <a:gd name="adj" fmla="val 5747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400" b="1" dirty="0">
                <a:solidFill>
                  <a:srgbClr val="002060"/>
                </a:solidFill>
              </a:rPr>
              <a:t>Problem Statement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ML Task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:  Time Series Regression
</a:t>
            </a:r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Target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:  Daily </a:t>
            </a:r>
            <a:r>
              <a:rPr lang="en-US" sz="1600" dirty="0" err="1">
                <a:solidFill>
                  <a:srgbClr val="002060"/>
                </a:solidFill>
                <a:latin typeface="Instrument Sans Medium" pitchFamily="34" charset="0"/>
              </a:rPr>
              <a:t>sales_qty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 per department
</a:t>
            </a:r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Scope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:  CA_3 · FOODS_1, FOODS_2, FOODS_3
</a:t>
            </a:r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Horizon: 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28 days ahead</a:t>
            </a:r>
          </a:p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
</a:t>
            </a:r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Challenge: 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Food demand is driven by multiple overlapping signals — SNAP benefit dates, weekly shopping cycles, seasonal events, and price — that a single rule cannot capture simultaneously. Over-forecasting causes waste. Under-forecasting causes unrecoverable stockouts.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Success criteria: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
● Beat Naive and Seasonal Naive on RMSE and MAPE
● SNAP day accuracy ≥ non-SNAP day accuracy
● No group exceeds 5pp MPE gap in bias audit</a:t>
            </a:r>
          </a:p>
          <a:p>
            <a:endParaRPr lang="en-US" sz="1600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6077A-31F9-A8F4-86DF-66DA7E97A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624175"/>
              </p:ext>
            </p:extLst>
          </p:nvPr>
        </p:nvGraphicFramePr>
        <p:xfrm>
          <a:off x="6064441" y="1576026"/>
          <a:ext cx="8344577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452">
                  <a:extLst>
                    <a:ext uri="{9D8B030D-6E8A-4147-A177-3AD203B41FA5}">
                      <a16:colId xmlns:a16="http://schemas.microsoft.com/office/drawing/2014/main" val="369974770"/>
                    </a:ext>
                  </a:extLst>
                </a:gridCol>
                <a:gridCol w="6087125">
                  <a:extLst>
                    <a:ext uri="{9D8B030D-6E8A-4147-A177-3AD203B41FA5}">
                      <a16:colId xmlns:a16="http://schemas.microsoft.com/office/drawing/2014/main" val="164279846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M5 Dataset Facts</a:t>
                      </a:r>
                    </a:p>
                  </a:txBody>
                  <a:tcPr>
                    <a:solidFill>
                      <a:srgbClr val="DED5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DED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91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Walmart / Kaggle M5 Competition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7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Raw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calendar.csv ・sales_train_validation.csv・sell_prices.csv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591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Full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30,490 items ・10 stores ・3 states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57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After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CA_3 + FOODS → 3 Departments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20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Date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2011-01-29 to 2016-04-24 (5+ years)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20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After 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5,739 rows x 14 columns (dept. level)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94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After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5,487 rows x 53 columns (1,829/dept)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053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Train / Test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80% training / 20% holdout (time-based)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64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Forecast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2016-04-25 to 2016-05-22 (28 days)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5643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447D-9D33-86D1-2E89-0F0EB67AC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F52306-E9F6-AAC2-A08D-9CEDEC9B1B06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EDA Key Findings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EAFBD2-7225-A4FF-F71C-00D0BDA6007A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14F3A3-226A-7BC8-81F0-51DCC4512FBD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424266E-E7E5-140D-3D23-C9D9DA1F554D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E60CE8-FBCF-BF2F-D673-32F89F577450}"/>
              </a:ext>
            </a:extLst>
          </p:cNvPr>
          <p:cNvGrpSpPr/>
          <p:nvPr/>
        </p:nvGrpSpPr>
        <p:grpSpPr>
          <a:xfrm>
            <a:off x="1727148" y="1598415"/>
            <a:ext cx="11176104" cy="1174284"/>
            <a:chOff x="1566273" y="1521826"/>
            <a:chExt cx="11176104" cy="1174284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E1AD721F-C114-D201-D7FD-7E82656FAA50}"/>
                </a:ext>
              </a:extLst>
            </p:cNvPr>
            <p:cNvSpPr/>
            <p:nvPr/>
          </p:nvSpPr>
          <p:spPr>
            <a:xfrm>
              <a:off x="1566273" y="1521828"/>
              <a:ext cx="2659218" cy="1174282"/>
            </a:xfrm>
            <a:prstGeom prst="roundRect">
              <a:avLst>
                <a:gd name="adj" fmla="val 9728"/>
              </a:avLst>
            </a:prstGeom>
            <a:solidFill>
              <a:srgbClr val="DED5FE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</a:rPr>
                <a:t>CA_3 #1</a:t>
              </a: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r>
                <a:rPr lang="en-US" sz="1400" dirty="0">
                  <a:solidFill>
                    <a:srgbClr val="002060"/>
                  </a:solidFill>
                </a:rPr>
                <a:t>Top store by average yearly</a:t>
              </a:r>
            </a:p>
            <a:p>
              <a:pPr algn="ctr"/>
              <a:r>
                <a:rPr lang="en-US" sz="1400" dirty="0">
                  <a:solidFill>
                    <a:srgbClr val="002060"/>
                  </a:solidFill>
                </a:rPr>
                <a:t>sales — ₱1.86M/year</a:t>
              </a: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76B3752B-324D-E8F9-09BD-0385640D177E}"/>
                </a:ext>
              </a:extLst>
            </p:cNvPr>
            <p:cNvSpPr/>
            <p:nvPr/>
          </p:nvSpPr>
          <p:spPr>
            <a:xfrm>
              <a:off x="4405235" y="1521827"/>
              <a:ext cx="2659218" cy="1174282"/>
            </a:xfrm>
            <a:prstGeom prst="roundRect">
              <a:avLst>
                <a:gd name="adj" fmla="val 9728"/>
              </a:avLst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</a:rPr>
                <a:t>FOODS #1</a:t>
              </a: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r>
                <a:rPr lang="en-US" sz="1400" dirty="0">
                  <a:solidFill>
                    <a:srgbClr val="002060"/>
                  </a:solidFill>
                </a:rPr>
                <a:t>Top category at CA_3</a:t>
              </a:r>
            </a:p>
            <a:p>
              <a:pPr algn="ctr"/>
              <a:r>
                <a:rPr lang="en-US" sz="1400" dirty="0">
                  <a:solidFill>
                    <a:srgbClr val="002060"/>
                  </a:solidFill>
                </a:rPr>
                <a:t>— 67% of total sales</a:t>
              </a: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D1B51D4F-F2B4-AFF5-B72F-279F10339999}"/>
                </a:ext>
              </a:extLst>
            </p:cNvPr>
            <p:cNvSpPr/>
            <p:nvPr/>
          </p:nvSpPr>
          <p:spPr>
            <a:xfrm>
              <a:off x="7244197" y="1521827"/>
              <a:ext cx="2659218" cy="1174282"/>
            </a:xfrm>
            <a:prstGeom prst="roundRect">
              <a:avLst>
                <a:gd name="adj" fmla="val 9728"/>
              </a:avLst>
            </a:prstGeom>
            <a:solidFill>
              <a:srgbClr val="DED5FE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</a:rPr>
                <a:t>FOODS_3</a:t>
              </a: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r>
                <a:rPr lang="en-US" sz="1400" dirty="0">
                  <a:solidFill>
                    <a:srgbClr val="002060"/>
                  </a:solidFill>
                </a:rPr>
                <a:t>Dominates with 5.58M total units (74%)</a:t>
              </a: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2E94195D-AA37-65C6-4B4F-58C2E8229DD8}"/>
                </a:ext>
              </a:extLst>
            </p:cNvPr>
            <p:cNvSpPr/>
            <p:nvPr/>
          </p:nvSpPr>
          <p:spPr>
            <a:xfrm>
              <a:off x="10083159" y="1521826"/>
              <a:ext cx="2659218" cy="1174282"/>
            </a:xfrm>
            <a:prstGeom prst="roundRect">
              <a:avLst>
                <a:gd name="adj" fmla="val 9728"/>
              </a:avLst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</a:rPr>
                <a:t>0 nulls</a:t>
              </a: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r>
                <a:rPr lang="en-US" sz="1400" dirty="0">
                  <a:solidFill>
                    <a:srgbClr val="002060"/>
                  </a:solidFill>
                </a:rPr>
                <a:t>No missing values after sell_price forward-fill</a:t>
              </a:r>
            </a:p>
            <a:p>
              <a:pPr algn="ctr"/>
              <a:endParaRPr lang="en-US" sz="1400" dirty="0">
                <a:solidFill>
                  <a:srgbClr val="002060"/>
                </a:solidFill>
              </a:endParaRPr>
            </a:p>
            <a:p>
              <a:pPr algn="ctr"/>
              <a:endParaRPr lang="en-US" dirty="0">
                <a:solidFill>
                  <a:srgbClr val="002060"/>
                </a:solidFill>
              </a:endParaRPr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9299E35-F60A-585A-D3A4-E43F424C6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024099"/>
              </p:ext>
            </p:extLst>
          </p:nvPr>
        </p:nvGraphicFramePr>
        <p:xfrm>
          <a:off x="780268" y="4483679"/>
          <a:ext cx="68614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283">
                  <a:extLst>
                    <a:ext uri="{9D8B030D-6E8A-4147-A177-3AD203B41FA5}">
                      <a16:colId xmlns:a16="http://schemas.microsoft.com/office/drawing/2014/main" val="332361957"/>
                    </a:ext>
                  </a:extLst>
                </a:gridCol>
                <a:gridCol w="1372283">
                  <a:extLst>
                    <a:ext uri="{9D8B030D-6E8A-4147-A177-3AD203B41FA5}">
                      <a16:colId xmlns:a16="http://schemas.microsoft.com/office/drawing/2014/main" val="1507178593"/>
                    </a:ext>
                  </a:extLst>
                </a:gridCol>
                <a:gridCol w="1372283">
                  <a:extLst>
                    <a:ext uri="{9D8B030D-6E8A-4147-A177-3AD203B41FA5}">
                      <a16:colId xmlns:a16="http://schemas.microsoft.com/office/drawing/2014/main" val="3177710530"/>
                    </a:ext>
                  </a:extLst>
                </a:gridCol>
                <a:gridCol w="1372283">
                  <a:extLst>
                    <a:ext uri="{9D8B030D-6E8A-4147-A177-3AD203B41FA5}">
                      <a16:colId xmlns:a16="http://schemas.microsoft.com/office/drawing/2014/main" val="2478627097"/>
                    </a:ext>
                  </a:extLst>
                </a:gridCol>
                <a:gridCol w="1372283">
                  <a:extLst>
                    <a:ext uri="{9D8B030D-6E8A-4147-A177-3AD203B41FA5}">
                      <a16:colId xmlns:a16="http://schemas.microsoft.com/office/drawing/2014/main" val="3155657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Department</a:t>
                      </a:r>
                    </a:p>
                  </a:txBody>
                  <a:tcPr anchor="ctr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Avg Daily</a:t>
                      </a:r>
                    </a:p>
                  </a:txBody>
                  <a:tcPr anchor="ctr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ADF p-</a:t>
                      </a:r>
                      <a:r>
                        <a:rPr lang="en-US" sz="1800" b="1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endParaRPr 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Stationary</a:t>
                      </a:r>
                    </a:p>
                  </a:txBody>
                  <a:tcPr anchor="ctr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Seasonal Str</a:t>
                      </a:r>
                    </a:p>
                  </a:txBody>
                  <a:tcPr anchor="ctr">
                    <a:solidFill>
                      <a:srgbClr val="DED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87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FOODS_1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385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0.014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0.42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54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FOODS-2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629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0.58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408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FOODS_3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2,915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0.107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Borderline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0.64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2215777"/>
                  </a:ext>
                </a:extLst>
              </a:tr>
            </a:tbl>
          </a:graphicData>
        </a:graphic>
      </p:graphicFrame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CB1350B-AFE0-0C5A-CBDF-580FF3A0AD0C}"/>
              </a:ext>
            </a:extLst>
          </p:cNvPr>
          <p:cNvSpPr/>
          <p:nvPr/>
        </p:nvSpPr>
        <p:spPr>
          <a:xfrm>
            <a:off x="780268" y="3879334"/>
            <a:ext cx="6861415" cy="414353"/>
          </a:xfrm>
          <a:prstGeom prst="roundRect">
            <a:avLst>
              <a:gd name="adj" fmla="val 14221"/>
            </a:avLst>
          </a:prstGeom>
          <a:solidFill>
            <a:srgbClr val="DED5FE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400" b="1" dirty="0">
                <a:solidFill>
                  <a:srgbClr val="002060"/>
                </a:solidFill>
              </a:rPr>
              <a:t>Stationary (ADF) &amp; Seasonal Strength (STL)</a:t>
            </a:r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F575D10-1074-D9E0-E2B7-473E567B3A0F}"/>
              </a:ext>
            </a:extLst>
          </p:cNvPr>
          <p:cNvSpPr/>
          <p:nvPr/>
        </p:nvSpPr>
        <p:spPr>
          <a:xfrm>
            <a:off x="7903206" y="3263119"/>
            <a:ext cx="5844324" cy="4391926"/>
          </a:xfrm>
          <a:prstGeom prst="roundRect">
            <a:avLst>
              <a:gd name="adj" fmla="val 3579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Weekly Seasonal Confirmed</a:t>
            </a:r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STL decomposition shows clear period-7 cycles across all three departments. Saturday and Sunday consistently show the highest demand. day_of_week is the top SHAP feature for FOODS_1 and FOODS_3.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</a:rPr>
              <a:t>SNAP Demand Lift Detected</a:t>
            </a:r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dirty="0" err="1">
                <a:solidFill>
                  <a:srgbClr val="002060"/>
                </a:solidFill>
                <a:latin typeface="Instrument Sans Medium" pitchFamily="34" charset="0"/>
              </a:rPr>
              <a:t>snap_CA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 is the #1 raw feature importance for FOODS_2 (0.144). FOODS_2 is more accurate on SNAP days (MAPE 8.41%) than non-SNAP days (8.95%).</a:t>
            </a:r>
          </a:p>
          <a:p>
            <a:endParaRPr lang="en-US" sz="2000" b="1" dirty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002060"/>
                </a:solidFill>
              </a:rPr>
              <a:t>FOODS_3 Scale Difference</a:t>
            </a:r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FOODS_3 daily avg = 2,915 units vs FOODS_1 at 385. Monthly cycle (lag_28) dominates with importance 0.41. Each dept requires a separate model.</a:t>
            </a:r>
          </a:p>
        </p:txBody>
      </p:sp>
    </p:spTree>
    <p:extLst>
      <p:ext uri="{BB962C8B-B14F-4D97-AF65-F5344CB8AC3E}">
        <p14:creationId xmlns:p14="http://schemas.microsoft.com/office/powerpoint/2010/main" val="336215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4548-86D3-311B-1D97-8E8A39C7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704FC9-5733-3D7C-2087-AC1649DFEDB3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STL Decomposition &amp; Stationary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FD3A65A-BD5E-5A14-315C-EFE387490933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ABEE88-802E-700F-288D-047677497415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5FD480-BEEF-E066-6258-F1DF4B55FEC6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338A047-4660-2384-2D6A-570D9721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06" y="1289260"/>
            <a:ext cx="6142886" cy="3094430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8252B883-CC53-A692-C6DA-52844D3FB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53" y="4551148"/>
            <a:ext cx="6071565" cy="3094429"/>
          </a:xfrm>
          <a:prstGeom prst="rect">
            <a:avLst/>
          </a:prstGeom>
        </p:spPr>
      </p:pic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0D9DC65C-1BCD-EB96-4AA3-A6E834B14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675" y="1289260"/>
            <a:ext cx="6071565" cy="3094430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40AF6F1-622B-02B6-FE33-71C9F1D6E819}"/>
              </a:ext>
            </a:extLst>
          </p:cNvPr>
          <p:cNvSpPr/>
          <p:nvPr/>
        </p:nvSpPr>
        <p:spPr>
          <a:xfrm>
            <a:off x="7315201" y="6148551"/>
            <a:ext cx="5890040" cy="1340485"/>
          </a:xfrm>
          <a:prstGeom prst="roundRect">
            <a:avLst>
              <a:gd name="adj" fmla="val 3579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FOODS_1 and FOODS_2 are stationary (p&lt;0.05). FOODS_3 is borderline — justifying d=1 differencing in ARIMA/SARIMA. Clear weekly seasonality confirmed across all three departments.</a:t>
            </a: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A8B53E87-CB7F-9901-4B45-C0D16C07E50A}"/>
              </a:ext>
            </a:extLst>
          </p:cNvPr>
          <p:cNvSpPr/>
          <p:nvPr/>
        </p:nvSpPr>
        <p:spPr>
          <a:xfrm>
            <a:off x="7315200" y="4692947"/>
            <a:ext cx="2659218" cy="1042258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dirty="0">
                <a:solidFill>
                  <a:srgbClr val="002060"/>
                </a:solidFill>
              </a:rPr>
              <a:t>ADF Stationary Test</a:t>
            </a:r>
          </a:p>
          <a:p>
            <a:r>
              <a:rPr lang="en-US" sz="1400" dirty="0">
                <a:solidFill>
                  <a:srgbClr val="002060"/>
                </a:solidFill>
              </a:rPr>
              <a:t>FOODS_1 p = 0.014</a:t>
            </a:r>
          </a:p>
          <a:p>
            <a:r>
              <a:rPr lang="en-US" sz="1400" dirty="0">
                <a:solidFill>
                  <a:srgbClr val="002060"/>
                </a:solidFill>
              </a:rPr>
              <a:t>FOODS_2 p = 0.001</a:t>
            </a:r>
          </a:p>
          <a:p>
            <a:r>
              <a:rPr lang="en-US" sz="1400" dirty="0">
                <a:solidFill>
                  <a:srgbClr val="002060"/>
                </a:solidFill>
              </a:rPr>
              <a:t>FOODS_3 p = 0.107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20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37375-7830-79BE-CECA-0777367B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DC3115-61A0-CB2F-B7B7-3715FC7D1E7A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ACF &amp; PACF Autocorrelation Analysis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93702C-F881-28B4-3EF0-CFF6FA798ACD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073CF8-F997-EE39-7C41-A0E4A6B1A191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B8FDDF-22F6-6BE9-78AA-CD487B401709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6720148-9E2D-B037-F585-3733ACA87914}"/>
              </a:ext>
            </a:extLst>
          </p:cNvPr>
          <p:cNvSpPr/>
          <p:nvPr/>
        </p:nvSpPr>
        <p:spPr>
          <a:xfrm>
            <a:off x="599181" y="1186934"/>
            <a:ext cx="8804701" cy="347575"/>
          </a:xfrm>
          <a:prstGeom prst="roundRect">
            <a:avLst>
              <a:gd name="adj" fmla="val 12651"/>
            </a:avLst>
          </a:prstGeom>
          <a:noFill/>
          <a:ln>
            <a:solidFill>
              <a:srgbClr val="7030A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ACF / PACF — Lags 1 and 7 dominate, confirming daily and weekly demand cycles</a:t>
            </a: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AE486328-0C6E-CAAB-325B-2CCB8C1CE1F3}"/>
              </a:ext>
            </a:extLst>
          </p:cNvPr>
          <p:cNvSpPr/>
          <p:nvPr/>
        </p:nvSpPr>
        <p:spPr>
          <a:xfrm>
            <a:off x="8035610" y="5229256"/>
            <a:ext cx="5811264" cy="1260021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Strong autocorrelation at lag 1 (yesterday) and lag 7 (same weekday last week) confirmed across all departments — directly justifying the lag feature engineering approach in Notebook 03.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EE3697-2091-6B65-27E6-8522F467605D}"/>
              </a:ext>
            </a:extLst>
          </p:cNvPr>
          <p:cNvSpPr/>
          <p:nvPr/>
        </p:nvSpPr>
        <p:spPr>
          <a:xfrm>
            <a:off x="557050" y="1727060"/>
            <a:ext cx="1071964" cy="347575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</a:rPr>
              <a:t>FOODS_1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D40D890-B1FC-E3F4-A8ED-6CB7727C8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0" y="2080889"/>
            <a:ext cx="6758150" cy="2337648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04A13F06-595A-46F7-8B93-6F96B4E8E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576" y="2080889"/>
            <a:ext cx="6758150" cy="233764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F86BB6-8215-5B8E-71DB-F7CB06A3EFE3}"/>
              </a:ext>
            </a:extLst>
          </p:cNvPr>
          <p:cNvSpPr/>
          <p:nvPr/>
        </p:nvSpPr>
        <p:spPr>
          <a:xfrm>
            <a:off x="7650576" y="1733314"/>
            <a:ext cx="1071964" cy="347575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</a:rPr>
              <a:t>FOODS_2</a:t>
            </a:r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A12C4764-590B-0392-D9A2-E0A6755BC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50" y="5132443"/>
            <a:ext cx="6716018" cy="2337648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599EA62-1867-1D53-9A81-027ADB26CFB3}"/>
              </a:ext>
            </a:extLst>
          </p:cNvPr>
          <p:cNvSpPr/>
          <p:nvPr/>
        </p:nvSpPr>
        <p:spPr>
          <a:xfrm>
            <a:off x="557050" y="4850828"/>
            <a:ext cx="1071964" cy="347575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</a:rPr>
              <a:t>FOODS_3</a:t>
            </a:r>
          </a:p>
        </p:txBody>
      </p:sp>
    </p:spTree>
    <p:extLst>
      <p:ext uri="{BB962C8B-B14F-4D97-AF65-F5344CB8AC3E}">
        <p14:creationId xmlns:p14="http://schemas.microsoft.com/office/powerpoint/2010/main" val="136219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97CEF-D599-7210-BF8F-7C3F1EC7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398AF6-604A-2B90-F8C0-F6F5B2D1DC0F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Feature Engineering - 39 Features across 8 Groups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8F0B93-28D2-6AA1-C29E-009ED3688221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BFFCF8-8872-555A-2641-1E768829D446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629E146-B8DB-6ADA-C12A-BDCD4FCB99D8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0B8C625D-5321-D174-FE82-B840D385EE98}"/>
              </a:ext>
            </a:extLst>
          </p:cNvPr>
          <p:cNvSpPr/>
          <p:nvPr/>
        </p:nvSpPr>
        <p:spPr>
          <a:xfrm>
            <a:off x="857723" y="1500916"/>
            <a:ext cx="3188187" cy="1818174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Lag (10)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lag_1/2/3/7/14/21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lag_28/42/56/84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1A42EB-2EB5-4B19-18F2-F6A210B21FCF}"/>
              </a:ext>
            </a:extLst>
          </p:cNvPr>
          <p:cNvSpPr/>
          <p:nvPr/>
        </p:nvSpPr>
        <p:spPr>
          <a:xfrm>
            <a:off x="4190671" y="1500916"/>
            <a:ext cx="3188187" cy="1818174"/>
          </a:xfrm>
          <a:prstGeom prst="roundRect">
            <a:avLst>
              <a:gd name="adj" fmla="val 9728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Rolling Mean (5)</a:t>
            </a:r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7/14/42/56-days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Smoothed demand level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B594866-C3A4-83DC-9525-7EE7309FB70F}"/>
              </a:ext>
            </a:extLst>
          </p:cNvPr>
          <p:cNvSpPr/>
          <p:nvPr/>
        </p:nvSpPr>
        <p:spPr>
          <a:xfrm>
            <a:off x="7523619" y="1500916"/>
            <a:ext cx="3188187" cy="1818174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Rolling Std (5)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7/14/28/42/56-day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Demand volatility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C429B30-1FD2-549F-8C28-108CCAD1940E}"/>
              </a:ext>
            </a:extLst>
          </p:cNvPr>
          <p:cNvSpPr/>
          <p:nvPr/>
        </p:nvSpPr>
        <p:spPr>
          <a:xfrm>
            <a:off x="10856567" y="1500916"/>
            <a:ext cx="3188187" cy="1818174"/>
          </a:xfrm>
          <a:prstGeom prst="roundRect">
            <a:avLst>
              <a:gd name="adj" fmla="val 9728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EWMA (3)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Exponential Weighted Moving Average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 span 7/14/28-days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⍺ = 0.25/0.133/0.067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C1180A15-25B0-5E1B-9813-9BE6A3765D4F}"/>
              </a:ext>
            </a:extLst>
          </p:cNvPr>
          <p:cNvSpPr/>
          <p:nvPr/>
        </p:nvSpPr>
        <p:spPr>
          <a:xfrm>
            <a:off x="10856567" y="3539112"/>
            <a:ext cx="3188187" cy="1818174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Trend + Interaction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trend_index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snap_event_inter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B05A14D-FED6-04A8-0F5A-6B48981529DA}"/>
              </a:ext>
            </a:extLst>
          </p:cNvPr>
          <p:cNvSpPr/>
          <p:nvPr/>
        </p:nvSpPr>
        <p:spPr>
          <a:xfrm>
            <a:off x="857723" y="3560829"/>
            <a:ext cx="3188187" cy="1818174"/>
          </a:xfrm>
          <a:prstGeom prst="roundRect">
            <a:avLst>
              <a:gd name="adj" fmla="val 9728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sz="2700" b="1" dirty="0">
                <a:solidFill>
                  <a:srgbClr val="002060"/>
                </a:solidFill>
              </a:rPr>
              <a:t>Rolling Max/Min (4)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7-day &amp; 28-day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Peak and Floor signal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CA6AC3A1-1D71-458C-30E9-C9FD00B9A801}"/>
              </a:ext>
            </a:extLst>
          </p:cNvPr>
          <p:cNvSpPr/>
          <p:nvPr/>
        </p:nvSpPr>
        <p:spPr>
          <a:xfrm>
            <a:off x="4190671" y="3560829"/>
            <a:ext cx="3188187" cy="1818174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Calendar (6)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day_of_week・week_of_year・is_weekend・day_of_month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A55A6D9-589F-3129-5900-610B5C52B100}"/>
              </a:ext>
            </a:extLst>
          </p:cNvPr>
          <p:cNvSpPr/>
          <p:nvPr/>
        </p:nvSpPr>
        <p:spPr>
          <a:xfrm>
            <a:off x="7523619" y="3541987"/>
            <a:ext cx="3188187" cy="1818174"/>
          </a:xfrm>
          <a:prstGeom prst="roundRect">
            <a:avLst>
              <a:gd name="adj" fmla="val 9728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Price (4)</a:t>
            </a: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price_change 7/28-day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</a:rPr>
              <a:t>sell_price_lag 7/28-day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5294D01E-4515-25B9-11E1-3A2903E450EE}"/>
              </a:ext>
            </a:extLst>
          </p:cNvPr>
          <p:cNvSpPr/>
          <p:nvPr/>
        </p:nvSpPr>
        <p:spPr>
          <a:xfrm>
            <a:off x="857723" y="5937062"/>
            <a:ext cx="13187031" cy="646808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Leakage prevention: .shift(1) before all rolling computations  |  PCA not applied: lag/rolling features already capture principal variance; PCA removes interpretability needed for demand planning  |  weekday (text) dropped — numeric day_of_week used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651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4FE0A-8183-91D2-75D5-219DB12E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CD44BD-E244-A885-6C33-7EEEE165FD3F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 Model Selection - Stage 1 Results (15 Candidates per Department)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49012DF-E8FC-6143-1CD3-11EDA0EC5DFE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B1C830-DE15-8909-77F8-FE74A13D8985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5E5D6A5-C02A-30EE-8501-7F679B9FB416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09494388-E639-30ED-31A2-6DF7061D77A9}"/>
              </a:ext>
            </a:extLst>
          </p:cNvPr>
          <p:cNvSpPr/>
          <p:nvPr/>
        </p:nvSpPr>
        <p:spPr>
          <a:xfrm>
            <a:off x="7432753" y="5031584"/>
            <a:ext cx="3762703" cy="635798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dirty="0">
                <a:solidFill>
                  <a:srgbClr val="002060"/>
                </a:solidFill>
              </a:rPr>
              <a:t>★ Winner across all three departments — ranked by RMSE on 20% holdout test set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E2237D-76C5-C42A-258F-9D9B97406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327560"/>
              </p:ext>
            </p:extLst>
          </p:nvPr>
        </p:nvGraphicFramePr>
        <p:xfrm>
          <a:off x="965075" y="1151943"/>
          <a:ext cx="5880098" cy="3251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6412">
                  <a:extLst>
                    <a:ext uri="{9D8B030D-6E8A-4147-A177-3AD203B41FA5}">
                      <a16:colId xmlns:a16="http://schemas.microsoft.com/office/drawing/2014/main" val="4154434778"/>
                    </a:ext>
                  </a:extLst>
                </a:gridCol>
                <a:gridCol w="799237">
                  <a:extLst>
                    <a:ext uri="{9D8B030D-6E8A-4147-A177-3AD203B41FA5}">
                      <a16:colId xmlns:a16="http://schemas.microsoft.com/office/drawing/2014/main" val="1629691500"/>
                    </a:ext>
                  </a:extLst>
                </a:gridCol>
                <a:gridCol w="1065649">
                  <a:extLst>
                    <a:ext uri="{9D8B030D-6E8A-4147-A177-3AD203B41FA5}">
                      <a16:colId xmlns:a16="http://schemas.microsoft.com/office/drawing/2014/main" val="1396063526"/>
                    </a:ext>
                  </a:extLst>
                </a:gridCol>
                <a:gridCol w="1788768">
                  <a:extLst>
                    <a:ext uri="{9D8B030D-6E8A-4147-A177-3AD203B41FA5}">
                      <a16:colId xmlns:a16="http://schemas.microsoft.com/office/drawing/2014/main" val="2990441020"/>
                    </a:ext>
                  </a:extLst>
                </a:gridCol>
                <a:gridCol w="675545">
                  <a:extLst>
                    <a:ext uri="{9D8B030D-6E8A-4147-A177-3AD203B41FA5}">
                      <a16:colId xmlns:a16="http://schemas.microsoft.com/office/drawing/2014/main" val="1587798617"/>
                    </a:ext>
                  </a:extLst>
                </a:gridCol>
                <a:gridCol w="675545">
                  <a:extLst>
                    <a:ext uri="{9D8B030D-6E8A-4147-A177-3AD203B41FA5}">
                      <a16:colId xmlns:a16="http://schemas.microsoft.com/office/drawing/2014/main" val="3609947138"/>
                    </a:ext>
                  </a:extLst>
                </a:gridCol>
                <a:gridCol w="608942">
                  <a:extLst>
                    <a:ext uri="{9D8B030D-6E8A-4147-A177-3AD203B41FA5}">
                      <a16:colId xmlns:a16="http://schemas.microsoft.com/office/drawing/2014/main" val="321184243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dept_id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model_family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model_name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mae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rmse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mape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132138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0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XGB_200_0.05_5 ★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   52.81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   73.94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12.26 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ED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5221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XGB_100_0.1_3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 52.83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 74.26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12.09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80750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LGB_300_0.03_8_63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54.44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76.87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12.38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966241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LGB_200_0.05_6_31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54.72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77.50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12.36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386003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RF_100_5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56.26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79.20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12.84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01249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5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RF_200_10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56.47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79.97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12.95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087539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SARIMA(1, 1, 2)(1,1,1,7)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62.05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85.70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14.27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08253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7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SARIMA(2, 1, 1)(1,1,1,7)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63.87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88.14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14.25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443144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8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SARIMA(1, 1, 1)(1,1,1,7)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68.55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93.70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14.84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979271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ARIMA(1, 1, 1)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75.79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104.67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16.41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9331824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Baseline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Naive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76.89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106.25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16.51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017653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ARIMA(1, 1, 2)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77.29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106.79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16.56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583596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ARIMA(2, 1, 1)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78.14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107.93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16.66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859471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ES_add_add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86.06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111.89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18.16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82095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14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Baseline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Seasonal_Naive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104.81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130.33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23.10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1123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13E848-773F-0D1A-54E9-C359293B6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05222"/>
              </p:ext>
            </p:extLst>
          </p:nvPr>
        </p:nvGraphicFramePr>
        <p:xfrm>
          <a:off x="7064453" y="1151943"/>
          <a:ext cx="5880098" cy="3251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6412">
                  <a:extLst>
                    <a:ext uri="{9D8B030D-6E8A-4147-A177-3AD203B41FA5}">
                      <a16:colId xmlns:a16="http://schemas.microsoft.com/office/drawing/2014/main" val="3366600741"/>
                    </a:ext>
                  </a:extLst>
                </a:gridCol>
                <a:gridCol w="799237">
                  <a:extLst>
                    <a:ext uri="{9D8B030D-6E8A-4147-A177-3AD203B41FA5}">
                      <a16:colId xmlns:a16="http://schemas.microsoft.com/office/drawing/2014/main" val="4177018184"/>
                    </a:ext>
                  </a:extLst>
                </a:gridCol>
                <a:gridCol w="1065649">
                  <a:extLst>
                    <a:ext uri="{9D8B030D-6E8A-4147-A177-3AD203B41FA5}">
                      <a16:colId xmlns:a16="http://schemas.microsoft.com/office/drawing/2014/main" val="1832339169"/>
                    </a:ext>
                  </a:extLst>
                </a:gridCol>
                <a:gridCol w="1788768">
                  <a:extLst>
                    <a:ext uri="{9D8B030D-6E8A-4147-A177-3AD203B41FA5}">
                      <a16:colId xmlns:a16="http://schemas.microsoft.com/office/drawing/2014/main" val="3170274641"/>
                    </a:ext>
                  </a:extLst>
                </a:gridCol>
                <a:gridCol w="675545">
                  <a:extLst>
                    <a:ext uri="{9D8B030D-6E8A-4147-A177-3AD203B41FA5}">
                      <a16:colId xmlns:a16="http://schemas.microsoft.com/office/drawing/2014/main" val="1074689808"/>
                    </a:ext>
                  </a:extLst>
                </a:gridCol>
                <a:gridCol w="675545">
                  <a:extLst>
                    <a:ext uri="{9D8B030D-6E8A-4147-A177-3AD203B41FA5}">
                      <a16:colId xmlns:a16="http://schemas.microsoft.com/office/drawing/2014/main" val="4186230363"/>
                    </a:ext>
                  </a:extLst>
                </a:gridCol>
                <a:gridCol w="608942">
                  <a:extLst>
                    <a:ext uri="{9D8B030D-6E8A-4147-A177-3AD203B41FA5}">
                      <a16:colId xmlns:a16="http://schemas.microsoft.com/office/drawing/2014/main" val="130536734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dept_id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model_family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model_name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mae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rmse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mape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091489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0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XGB_200_0.05_5 ★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   56.98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   73.26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  8.82 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ED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5726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LGB_200_0.05_6_31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58.45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74.13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  8.85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4629974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LGB_300_0.03_8_63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59.62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75.29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 8.96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70623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XGB_100_0.1_3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60.25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77.16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  9.34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337789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RF_200_10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59.68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77.31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 8.95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1429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5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RF_100_5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63.21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81.37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 9.44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57265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SARIMA(2, 1, 1)(1,1,1,7)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92.03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119.08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13.25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431323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7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SARIMA(1, 1, 2)(1,1,1,7)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93.27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120.51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13.39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63928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8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SARIMA(1, 1, 1)(1,1,1,7)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96.28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124.33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13.69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918174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Baseline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Seasonal_Naive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98.02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125.54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14.20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168056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ES_add_add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98.84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127.08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14.00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56889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ARIMA(2, 1, 1)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110.73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144.88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16.03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6644205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ARIMA(1, 1, 2)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110.88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145.08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16.04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18960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ARIMA(1, 1, 1)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111.28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145.64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16.06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387372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14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Baseline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Naive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185.27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221.76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25.37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7463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A18790-399F-57F4-61CB-364711B02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884676"/>
              </p:ext>
            </p:extLst>
          </p:nvPr>
        </p:nvGraphicFramePr>
        <p:xfrm>
          <a:off x="901573" y="4521968"/>
          <a:ext cx="5943600" cy="3251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6273">
                  <a:extLst>
                    <a:ext uri="{9D8B030D-6E8A-4147-A177-3AD203B41FA5}">
                      <a16:colId xmlns:a16="http://schemas.microsoft.com/office/drawing/2014/main" val="3135186507"/>
                    </a:ext>
                  </a:extLst>
                </a:gridCol>
                <a:gridCol w="798820">
                  <a:extLst>
                    <a:ext uri="{9D8B030D-6E8A-4147-A177-3AD203B41FA5}">
                      <a16:colId xmlns:a16="http://schemas.microsoft.com/office/drawing/2014/main" val="2469437355"/>
                    </a:ext>
                  </a:extLst>
                </a:gridCol>
                <a:gridCol w="1065093">
                  <a:extLst>
                    <a:ext uri="{9D8B030D-6E8A-4147-A177-3AD203B41FA5}">
                      <a16:colId xmlns:a16="http://schemas.microsoft.com/office/drawing/2014/main" val="1213273517"/>
                    </a:ext>
                  </a:extLst>
                </a:gridCol>
                <a:gridCol w="1787835">
                  <a:extLst>
                    <a:ext uri="{9D8B030D-6E8A-4147-A177-3AD203B41FA5}">
                      <a16:colId xmlns:a16="http://schemas.microsoft.com/office/drawing/2014/main" val="1202094048"/>
                    </a:ext>
                  </a:extLst>
                </a:gridCol>
                <a:gridCol w="675193">
                  <a:extLst>
                    <a:ext uri="{9D8B030D-6E8A-4147-A177-3AD203B41FA5}">
                      <a16:colId xmlns:a16="http://schemas.microsoft.com/office/drawing/2014/main" val="3778911810"/>
                    </a:ext>
                  </a:extLst>
                </a:gridCol>
                <a:gridCol w="675193">
                  <a:extLst>
                    <a:ext uri="{9D8B030D-6E8A-4147-A177-3AD203B41FA5}">
                      <a16:colId xmlns:a16="http://schemas.microsoft.com/office/drawing/2014/main" val="1038543394"/>
                    </a:ext>
                  </a:extLst>
                </a:gridCol>
                <a:gridCol w="675193">
                  <a:extLst>
                    <a:ext uri="{9D8B030D-6E8A-4147-A177-3AD203B41FA5}">
                      <a16:colId xmlns:a16="http://schemas.microsoft.com/office/drawing/2014/main" val="303179108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dept_id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model_family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model_name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mae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rmse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mape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7813669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0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XGB_200_0.05_5 ★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 200.80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>
                          <a:solidFill>
                            <a:srgbClr val="002060"/>
                          </a:solidFill>
                          <a:effectLst/>
                        </a:rPr>
                        <a:t>  275.66 </a:t>
                      </a:r>
                      <a:endParaRPr lang="en-PH" sz="12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 77.04 </a:t>
                      </a:r>
                      <a:endParaRPr lang="en-PH" sz="12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ED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10358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XGB_100_0.1_3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198.78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276.31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  34.79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003145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LGB_200_0.05_6_31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205.17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281.10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86.46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437472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LGB_300_0.03_8_63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208.91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284.16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75.35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366048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RF_200_10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204.50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287.30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84.26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174731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5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ML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RF_100_5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218.82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305.78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  83.74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113684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ES_add_add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308.22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421.57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196.18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996842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7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SARIMA(2, 1, 1)(1,1,1,7)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378.31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476.17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173.09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71337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8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SARIMA(1, 1, 1)(1,1,1,7)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380.64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478.45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173.21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29462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Baseline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Seasonal_Naive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368.80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482.06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179.79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969960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SARIMA(1, 1, 2)(1,1,1,7)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363.30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483.28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212.96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05811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11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ARIMA(1, 1, 1)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412.20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536.63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203.89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33429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12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ARIMA(1, 1, 2)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412.28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537.48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203.36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6419944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Traditional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ARIMA(2, 1, 1)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412.83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540.40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201.89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610910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14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FOODS_3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Baseline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Naive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499.20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>
                          <a:solidFill>
                            <a:srgbClr val="002060"/>
                          </a:solidFill>
                          <a:effectLst/>
                        </a:rPr>
                        <a:t>  659.81 </a:t>
                      </a:r>
                      <a:endParaRPr lang="en-PH" sz="1200" b="0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PH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 183.18 </a:t>
                      </a:r>
                      <a:endParaRPr lang="en-PH" sz="12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94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4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66BA-8D82-10FE-56C1-8F1B78A7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C2CB7A-4BAC-A91D-BB79-7C5A31FEE173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Stage 1 Winner - Actual vs Predicted on est Period: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85C75B-7A56-9F0E-7AF5-8BE720E91561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D8CF0E-7310-A67E-5D77-2F7B1AFE9AAB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E18E236-906C-2B91-23BA-E40EA35E2AC4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BE54D2B-1041-12D5-E646-EEE8D6DF9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11" y="1583172"/>
            <a:ext cx="6989288" cy="2607754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CB782BD-53B8-2B67-133F-BFDE3CF0B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692" y="1507047"/>
            <a:ext cx="6989289" cy="2607753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8F9CF318-EB9D-C5A7-61C0-98F8CB94F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81" y="4640308"/>
            <a:ext cx="6989289" cy="27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45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AA29-2D34-E3C5-1FA6-0E5CB1F4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87AB52-097D-44E9-9205-6F1A79DD7B2C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Stage 1 Feature Importance &amp; CV Feature Count Search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5DE235F-8141-EB26-E9B1-7657E6454A1D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AC2C0EE-915B-EC39-04AB-A466C3C816AC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6E5F80A-2585-602A-A0BF-666206443B31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96F58AD-6D83-91B0-AD4F-FF151944D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52" y="1719514"/>
            <a:ext cx="4577747" cy="2768613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81CF9C3-6772-8613-0745-0D71494E4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284" y="1717505"/>
            <a:ext cx="4577747" cy="2768613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E1F39400-028C-4661-D380-E2A6E24D5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016" y="1717505"/>
            <a:ext cx="4577747" cy="2768613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4ACD87-1C8B-FF86-9DA1-C838AD0B0159}"/>
              </a:ext>
            </a:extLst>
          </p:cNvPr>
          <p:cNvSpPr/>
          <p:nvPr/>
        </p:nvSpPr>
        <p:spPr>
          <a:xfrm>
            <a:off x="557139" y="1181774"/>
            <a:ext cx="13516212" cy="473388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Raw XGBoost Feature Importance — Top 20 per Department (Stage 1 Winner):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79ABB5-52A9-9933-BB02-679C54D91AE4}"/>
              </a:ext>
            </a:extLst>
          </p:cNvPr>
          <p:cNvSpPr/>
          <p:nvPr/>
        </p:nvSpPr>
        <p:spPr>
          <a:xfrm>
            <a:off x="599181" y="4470872"/>
            <a:ext cx="13516212" cy="473388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CV Feature Count Search (TimeSeriesSplit 5-fold) — Optimal N Selected Before Stage 2:</a:t>
            </a: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FD5E3440-B232-B2A7-2734-A06FE27E9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194" y="4944260"/>
            <a:ext cx="4171106" cy="2084435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7E138A7E-BC3B-5333-9984-7C7FB49A89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2829" y="4944261"/>
            <a:ext cx="4171106" cy="2084434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5765DD4C-F45E-050A-6093-FE794FF648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6359" y="4933750"/>
            <a:ext cx="4211383" cy="2084434"/>
          </a:xfrm>
          <a:prstGeom prst="rect">
            <a:avLst/>
          </a:prstGeom>
        </p:spPr>
      </p:pic>
      <p:sp>
        <p:nvSpPr>
          <p:cNvPr id="20" name="Shape 3">
            <a:extLst>
              <a:ext uri="{FF2B5EF4-FFF2-40B4-BE49-F238E27FC236}">
                <a16:creationId xmlns:a16="http://schemas.microsoft.com/office/drawing/2014/main" id="{F01DE248-CF61-9CA1-16A1-661B562533F0}"/>
              </a:ext>
            </a:extLst>
          </p:cNvPr>
          <p:cNvSpPr/>
          <p:nvPr/>
        </p:nvSpPr>
        <p:spPr>
          <a:xfrm>
            <a:off x="943601" y="7092976"/>
            <a:ext cx="13171792" cy="599202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Best N by dept:  FOODS_1 = 15 features (CV RMSE 99.32)  ·  FOODS_2 = 10 features (CV RMSE 80.55)  ·  FOODS_3 = 10 features (CV RMSE 378.81)  </a:t>
            </a: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·  Testing 5→45 features, dashed red line = optimal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  <a:p>
            <a:endParaRPr lang="en-U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040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971B-243A-09B3-9E04-F35F36A92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11E3D8-E8DD-D40B-A7C8-68D63B01B444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 Results — Stage 2 (GridSearchCV) vs Stage 1 Comparison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FD5FBD-B387-CB70-9CC2-219E5725E81B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430AD5-DEB0-D06F-D73A-C0289A803F26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E175947-5A0E-70D3-3106-46A6F5B80000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284B0F92-B53C-08B4-5586-B2D574AF31A7}"/>
              </a:ext>
            </a:extLst>
          </p:cNvPr>
          <p:cNvSpPr/>
          <p:nvPr/>
        </p:nvSpPr>
        <p:spPr>
          <a:xfrm>
            <a:off x="599181" y="2815384"/>
            <a:ext cx="13284985" cy="488149"/>
          </a:xfrm>
          <a:prstGeom prst="roundRect">
            <a:avLst>
              <a:gd name="adj" fmla="val 9728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200" i="1" dirty="0">
                <a:solidFill>
                  <a:srgbClr val="002060"/>
                </a:solidFill>
                <a:latin typeface="Instrument Sans Medium" pitchFamily="34" charset="0"/>
              </a:rPr>
              <a:t>▲ improved vs Stage 1  |  Stage 2 RMSE slightly higher but MAPE improved — tuned model is more regularized and consistently accurate on typical demand days. MAPE is the operationally relevant metric.</a:t>
            </a: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B7F99482-6E27-521E-A784-5DEC38597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723509"/>
              </p:ext>
            </p:extLst>
          </p:nvPr>
        </p:nvGraphicFramePr>
        <p:xfrm>
          <a:off x="599181" y="1337967"/>
          <a:ext cx="13284985" cy="1341120"/>
        </p:xfrm>
        <a:graphic>
          <a:graphicData uri="http://schemas.openxmlformats.org/drawingml/2006/table">
            <a:tbl>
              <a:tblPr/>
              <a:tblGrid>
                <a:gridCol w="118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7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8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8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073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10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Dept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S1 Model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S1 RMSE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S1 MAPE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S2 Model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S2 RMSE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S2 MAPE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Features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Best Params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FOODS_1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XGB_200_0.05_5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73.94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12.26%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FINAL_XGB_GRID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76.70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12.41%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col_tree=0.8, lr=0.05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FOODS_2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XGB_200_0.05_5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73.26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8.82%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FINAL_XGB_GRID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74.53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8.77% ▲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col_tree=1.0, lr=0.05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FOODS_3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XGB_200_0.05_5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275.66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77.04%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FINAL_XGB_GRID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282.31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57.80% ▲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col_tree=0.8, lr=0.05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9E3FEC3-CB2C-EE15-0AE8-B8B0CE215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9" y="3947531"/>
            <a:ext cx="4245444" cy="173952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413FCE3-38A1-80B0-ABC7-1FBACCDB9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780" y="3947531"/>
            <a:ext cx="4655346" cy="17395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C7E0C873-EDCF-1D46-256C-98C0CF806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923" y="3947531"/>
            <a:ext cx="4655346" cy="173952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AD85A1-24BA-4FB9-C051-4B879ECDD837}"/>
              </a:ext>
            </a:extLst>
          </p:cNvPr>
          <p:cNvSpPr/>
          <p:nvPr/>
        </p:nvSpPr>
        <p:spPr>
          <a:xfrm>
            <a:off x="483567" y="3441078"/>
            <a:ext cx="13516212" cy="473388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Stage 2 Final Model — Actual vs Predicted on Test Period: 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36C9869-DD07-2B40-D150-F72694F65FF4}"/>
              </a:ext>
            </a:extLst>
          </p:cNvPr>
          <p:cNvSpPr/>
          <p:nvPr/>
        </p:nvSpPr>
        <p:spPr>
          <a:xfrm>
            <a:off x="367954" y="5656409"/>
            <a:ext cx="13516212" cy="473388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28-Day Forecast (Apr 25 – May 22, 2016) vs Baselines:</a:t>
            </a: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F454FA1A-7247-085D-3FF8-7936513D81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8" y="6135949"/>
            <a:ext cx="4245443" cy="1702726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9FC94E94-39B9-2B5B-AE36-BEF714E891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780" y="6129797"/>
            <a:ext cx="4655346" cy="1702726"/>
          </a:xfrm>
          <a:prstGeom prst="rect">
            <a:avLst/>
          </a:prstGeom>
        </p:spPr>
      </p:pic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9F2FE0B9-10E3-87CA-6A7F-A1C9D1C572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6397" y="6129796"/>
            <a:ext cx="4384872" cy="177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70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E6E8-0406-5F3A-9C6E-FD825359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C9B563-801F-4413-EAAE-F1D7AFF20629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 Feature Importance &amp; Explainability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A3BDEB-040A-866B-662B-A34A0ACF807E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3362AF5-B767-34A1-960B-94A6B4CABD73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0158FAA-270D-6E72-BC4E-611A735D2A7A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1215058C-09EB-2470-E0F6-9B828EFE3477}"/>
              </a:ext>
            </a:extLst>
          </p:cNvPr>
          <p:cNvSpPr/>
          <p:nvPr/>
        </p:nvSpPr>
        <p:spPr>
          <a:xfrm>
            <a:off x="599180" y="1134395"/>
            <a:ext cx="13284985" cy="488149"/>
          </a:xfrm>
          <a:prstGeom prst="roundRect">
            <a:avLst>
              <a:gd name="adj" fmla="val 9728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200" i="1" dirty="0">
                <a:solidFill>
                  <a:srgbClr val="002060"/>
                </a:solidFill>
                <a:latin typeface="Instrument Sans Medium" pitchFamily="34" charset="0"/>
              </a:rPr>
              <a:t>SHAP summary plot ranks features by mean |SHAP value| across all test predictions. Dot color = feature value (red=high, blue=low). Horizontal spread = magnitude of impact on individual predictions.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A3E386-58F1-EFFF-B955-6E9DBA9AAE96}"/>
              </a:ext>
            </a:extLst>
          </p:cNvPr>
          <p:cNvSpPr/>
          <p:nvPr/>
        </p:nvSpPr>
        <p:spPr>
          <a:xfrm>
            <a:off x="483566" y="5388717"/>
            <a:ext cx="13516212" cy="338983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SHAP Summary Rankings (Test Set) — Top 5 by department:  </a:t>
            </a: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B9EA108E-A737-0174-8655-BC931F652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66" y="1775672"/>
            <a:ext cx="4403189" cy="341643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978C4A02-7606-A085-91C9-B41BACBE4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05" y="1775672"/>
            <a:ext cx="4403189" cy="341643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62D18156-8401-B9BA-BDE7-08104B4AE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3645" y="1775672"/>
            <a:ext cx="4403189" cy="3416438"/>
          </a:xfrm>
          <a:prstGeom prst="rect">
            <a:avLst/>
          </a:prstGeom>
          <a:ln>
            <a:solidFill>
              <a:srgbClr val="002060"/>
            </a:solidFill>
          </a:ln>
        </p:spPr>
      </p:pic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C49870AB-B60E-11F3-FC66-37F3B2F7E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61200"/>
              </p:ext>
            </p:extLst>
          </p:nvPr>
        </p:nvGraphicFramePr>
        <p:xfrm>
          <a:off x="1244601" y="5809201"/>
          <a:ext cx="6731000" cy="2011680"/>
        </p:xfrm>
        <a:graphic>
          <a:graphicData uri="http://schemas.openxmlformats.org/drawingml/2006/table">
            <a:tbl>
              <a:tblPr/>
              <a:tblGrid>
                <a:gridCol w="621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5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Rank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FOODS_1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FOODS_2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FOODS_3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day_of_week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lag_1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day_of_week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5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lag_1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day_of_week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lag_1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rolling_mean_7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snap_CA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lag_28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5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lag_28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lag_28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lag_7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5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rolling_min_7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lag_7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day_of_month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Shape 3">
            <a:extLst>
              <a:ext uri="{FF2B5EF4-FFF2-40B4-BE49-F238E27FC236}">
                <a16:creationId xmlns:a16="http://schemas.microsoft.com/office/drawing/2014/main" id="{9D808ECD-A1DD-0290-D19B-56FCCD2F7B79}"/>
              </a:ext>
            </a:extLst>
          </p:cNvPr>
          <p:cNvSpPr/>
          <p:nvPr/>
        </p:nvSpPr>
        <p:spPr>
          <a:xfrm>
            <a:off x="8182601" y="6215838"/>
            <a:ext cx="5558799" cy="1021779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Raw XGBoost importance ≠ SHAP ranking. Raw importance = tree split frequency (snap_CA tops FOODS_2 raw at 0.144). SHAP = actual contribution magnitude on test predictions (lag_1 tops FOODS_2 SHAP). Both are valid and complementary views.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  <a:p>
            <a:endParaRPr lang="en-U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70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8485F-8E19-FC9A-0E69-4A3A52AD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A52FA5-FF1C-881E-2738-88A7D2D790F4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Explainability - SHAP Waterfall Plots (Median Test Observation)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3F9B6F-D974-5DAC-F16C-9A2702B71950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1C8C59-A7DC-2ECC-B1F4-8B0ED701B900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1F57FD9-92E8-EB08-ABC9-D9AB30378E9C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E78BA42-D58D-751F-E010-276AD11D23AE}"/>
              </a:ext>
            </a:extLst>
          </p:cNvPr>
          <p:cNvSpPr/>
          <p:nvPr/>
        </p:nvSpPr>
        <p:spPr>
          <a:xfrm>
            <a:off x="599180" y="1134396"/>
            <a:ext cx="10363995" cy="261268"/>
          </a:xfrm>
          <a:prstGeom prst="roundRect">
            <a:avLst>
              <a:gd name="adj" fmla="val 9728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200" i="1" dirty="0">
                <a:solidFill>
                  <a:srgbClr val="002060"/>
                </a:solidFill>
                <a:latin typeface="Instrument Sans Medium" pitchFamily="34" charset="0"/>
              </a:rPr>
              <a:t>Waterfall plots explain one specific prediction — how each feature pushed the forecast up (red) or down (blue) from the model baseline E[f(</a:t>
            </a:r>
            <a:r>
              <a:rPr lang="en-US" sz="1200" i="1">
                <a:solidFill>
                  <a:srgbClr val="002060"/>
                </a:solidFill>
                <a:latin typeface="Instrument Sans Medium" pitchFamily="34" charset="0"/>
              </a:rPr>
              <a:t>X)].</a:t>
            </a:r>
            <a:endParaRPr lang="en-US" sz="1200" i="1" dirty="0">
              <a:solidFill>
                <a:srgbClr val="002060"/>
              </a:solidFill>
              <a:latin typeface="Instrument Sans Medium" pitchFamily="34" charset="0"/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083EB0BF-F8B7-787E-6E84-2F97A2291BC7}"/>
              </a:ext>
            </a:extLst>
          </p:cNvPr>
          <p:cNvSpPr/>
          <p:nvPr/>
        </p:nvSpPr>
        <p:spPr>
          <a:xfrm>
            <a:off x="704414" y="5389987"/>
            <a:ext cx="4156986" cy="1705217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b="1" dirty="0">
                <a:solidFill>
                  <a:srgbClr val="002060"/>
                </a:solidFill>
                <a:latin typeface="Instrument Sans Medium" pitchFamily="34" charset="0"/>
              </a:rPr>
              <a:t>FOODS_1 (2015-06-16)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Actual=415, Forecast=447</a:t>
            </a: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+32 over-forecast</a:t>
            </a: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lag_1, rolling_mean_7, and day_of_week was the dominant drivers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FF1051E-56A8-2A24-747E-5AE3F5BCB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79" y="1636296"/>
            <a:ext cx="4367457" cy="35902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CB0E604-D3B1-803B-0D7E-1F4E28DA3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226" y="1636296"/>
            <a:ext cx="4367457" cy="35902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64E8BC5A-F222-584B-062E-D030C7B7F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273" y="1636296"/>
            <a:ext cx="4367457" cy="35902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30670D71-9F6C-75CC-ECAC-A7423CFEA45F}"/>
              </a:ext>
            </a:extLst>
          </p:cNvPr>
          <p:cNvSpPr/>
          <p:nvPr/>
        </p:nvSpPr>
        <p:spPr>
          <a:xfrm>
            <a:off x="5236707" y="5389987"/>
            <a:ext cx="4156986" cy="1705217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b="1" dirty="0">
                <a:solidFill>
                  <a:srgbClr val="002060"/>
                </a:solidFill>
                <a:latin typeface="Instrument Sans Medium" pitchFamily="34" charset="0"/>
              </a:rPr>
              <a:t>FOODS_2 (2015-05-07)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Actual=658, Forecast=742</a:t>
            </a: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+84 over-forecast</a:t>
            </a: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lag_1(+46.84)+lag_28(+40.08)+snap_CA(+38.06) stacked positive while Thursday (−34.16) insufficient to offset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F7BF865-6CF9-BA0D-13F8-BC34563EC52E}"/>
              </a:ext>
            </a:extLst>
          </p:cNvPr>
          <p:cNvSpPr/>
          <p:nvPr/>
        </p:nvSpPr>
        <p:spPr>
          <a:xfrm>
            <a:off x="9808508" y="5389986"/>
            <a:ext cx="4156986" cy="1705217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b="1" dirty="0">
                <a:solidFill>
                  <a:srgbClr val="002060"/>
                </a:solidFill>
                <a:latin typeface="Instrument Sans Medium" pitchFamily="34" charset="0"/>
              </a:rPr>
              <a:t>FOODS_3 (2015-06-01)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Actual=2,778, Forecast=3,066</a:t>
            </a: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+288 over-forecast</a:t>
            </a:r>
          </a:p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day_of_week dominant positive contributor followed by lag_28.</a:t>
            </a:r>
          </a:p>
        </p:txBody>
      </p:sp>
    </p:spTree>
    <p:extLst>
      <p:ext uri="{BB962C8B-B14F-4D97-AF65-F5344CB8AC3E}">
        <p14:creationId xmlns:p14="http://schemas.microsoft.com/office/powerpoint/2010/main" val="3221907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568B0-A311-C3EF-E4EE-4AFF31BB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AE6E22-AE91-6A4F-7A79-2A10108E43D0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Explainability — Partial Dependence Plots (Top 4 Features per Dept)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F5BE9D-35AA-97D3-BF98-D3447CE5A900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5AF27B-3C74-39CE-CF1F-DFCBB6DF01E4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2BA6D90-B799-9359-A241-99482789E812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0333D39-C8C2-2605-96E5-F304BA7D905D}"/>
              </a:ext>
            </a:extLst>
          </p:cNvPr>
          <p:cNvSpPr/>
          <p:nvPr/>
        </p:nvSpPr>
        <p:spPr>
          <a:xfrm>
            <a:off x="599179" y="1116680"/>
            <a:ext cx="13646209" cy="261268"/>
          </a:xfrm>
          <a:prstGeom prst="roundRect">
            <a:avLst>
              <a:gd name="adj" fmla="val 9728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200" i="1" dirty="0">
                <a:solidFill>
                  <a:srgbClr val="002060"/>
                </a:solidFill>
                <a:latin typeface="Instrument Sans Medium" pitchFamily="34" charset="0"/>
              </a:rPr>
              <a:t>PDP shows the average effect of one feature on the forecast while all other features are held constant. All upward slopes confirm correct directional learning — no inverted relationships found.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760C84-EA8C-71A6-CE46-C35D05DABE43}"/>
              </a:ext>
            </a:extLst>
          </p:cNvPr>
          <p:cNvSpPr/>
          <p:nvPr/>
        </p:nvSpPr>
        <p:spPr>
          <a:xfrm>
            <a:off x="557094" y="1412033"/>
            <a:ext cx="13516212" cy="360901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FOODS_1 — rolling_mean_7, day_of_week, lag_1, ewma_7 </a:t>
            </a: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DEE791FE-1F89-A022-E2D7-09163866E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94" y="1786415"/>
            <a:ext cx="12841272" cy="176515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8E830D-6491-66C3-BE5B-5774C8F464EA}"/>
              </a:ext>
            </a:extLst>
          </p:cNvPr>
          <p:cNvSpPr/>
          <p:nvPr/>
        </p:nvSpPr>
        <p:spPr>
          <a:xfrm>
            <a:off x="576344" y="3489552"/>
            <a:ext cx="13516212" cy="360901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FOODS_2 — snap_CA, lag_1, day_of_week, lag_28  </a:t>
            </a: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A3A632E3-F09E-EC3B-1142-0AB57E7DD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18" y="3807875"/>
            <a:ext cx="12799187" cy="1765155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9441965-8200-A6AF-B43A-5E6469478621}"/>
              </a:ext>
            </a:extLst>
          </p:cNvPr>
          <p:cNvSpPr/>
          <p:nvPr/>
        </p:nvSpPr>
        <p:spPr>
          <a:xfrm>
            <a:off x="528218" y="5616740"/>
            <a:ext cx="13516212" cy="360901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FOODS_3 — lag_28, lag_1, day_of_week, lag_7  </a:t>
            </a: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C3A1C2B7-9060-DF69-A1CC-C1FE888A3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28" y="5924150"/>
            <a:ext cx="12799187" cy="1732201"/>
          </a:xfrm>
          <a:prstGeom prst="rect">
            <a:avLst/>
          </a:prstGeom>
        </p:spPr>
      </p:pic>
      <p:sp>
        <p:nvSpPr>
          <p:cNvPr id="16" name="Shape 3">
            <a:extLst>
              <a:ext uri="{FF2B5EF4-FFF2-40B4-BE49-F238E27FC236}">
                <a16:creationId xmlns:a16="http://schemas.microsoft.com/office/drawing/2014/main" id="{C6FF6F4F-42AF-FAE1-279D-66220BDAE64B}"/>
              </a:ext>
            </a:extLst>
          </p:cNvPr>
          <p:cNvSpPr/>
          <p:nvPr/>
        </p:nvSpPr>
        <p:spPr>
          <a:xfrm>
            <a:off x="4283242" y="7694528"/>
            <a:ext cx="9683015" cy="423834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200" dirty="0">
                <a:solidFill>
                  <a:srgbClr val="002060"/>
                </a:solidFill>
                <a:latin typeface="Instrument Sans Medium" pitchFamily="34" charset="0"/>
              </a:rPr>
              <a:t>snap_CA shows a clean binary step-up 0→1 for FOODS_2 (most operationally transparent PDP finding). lag_28 for FOODS_3 shows the steepest slope of any feature across all departments, consistent with its 0.41 importance score.</a:t>
            </a:r>
          </a:p>
          <a:p>
            <a:endParaRPr lang="en-US" sz="1200" dirty="0">
              <a:solidFill>
                <a:srgbClr val="002060"/>
              </a:solidFill>
              <a:latin typeface="Instrument Sans Medium" pitchFamily="34" charset="0"/>
            </a:endParaRPr>
          </a:p>
          <a:p>
            <a:endParaRPr lang="en-US" sz="1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341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6519-7402-BD1A-135F-EDBFA5BF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F6F860-3E38-7682-06C3-6D90B76273F0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 — Residual Analysis &amp; Overfitting Check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1D0230-EC64-DDCF-5F93-F17105259036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D60FC52-2BB6-3CEE-55FB-290CF33D7E38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68358EF-E3D6-4378-49FA-4E9E47622FDB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0A8FEB-244B-0749-B4B5-13C39ED64C6B}"/>
              </a:ext>
            </a:extLst>
          </p:cNvPr>
          <p:cNvSpPr/>
          <p:nvPr/>
        </p:nvSpPr>
        <p:spPr>
          <a:xfrm>
            <a:off x="557094" y="1075151"/>
            <a:ext cx="13516212" cy="360901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Residual plots (Actual − Predicted) and Train vs Test MAPE comparison:  </a:t>
            </a: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1C894E32-A7E8-D40F-FF86-F7E0C915BB3C}"/>
              </a:ext>
            </a:extLst>
          </p:cNvPr>
          <p:cNvSpPr/>
          <p:nvPr/>
        </p:nvSpPr>
        <p:spPr>
          <a:xfrm>
            <a:off x="10566637" y="3081510"/>
            <a:ext cx="3506669" cy="1288359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Mean Residual (Bias):  FOODS_1 = +9.4 units/day (under-forecast) → apply +9 correction  |  FOODS_2 = +13.6 units/day → apply +14 correction  |  FOODS_3 = −2.6 units/day (negligible).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720FBC9-EF4B-E771-AF3B-4DE6FC22B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61" y="1547137"/>
            <a:ext cx="9332377" cy="4460326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F82C84-52D9-7432-A4F0-EA7FBEE330EE}"/>
              </a:ext>
            </a:extLst>
          </p:cNvPr>
          <p:cNvSpPr/>
          <p:nvPr/>
        </p:nvSpPr>
        <p:spPr>
          <a:xfrm>
            <a:off x="214439" y="6051249"/>
            <a:ext cx="13516212" cy="360901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Overfitting Check — Train MAPE vs Test MAPE (gap assessment): </a:t>
            </a: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AAEEC780-4B0C-F2BE-82C4-0AB32807C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996882"/>
              </p:ext>
            </p:extLst>
          </p:nvPr>
        </p:nvGraphicFramePr>
        <p:xfrm>
          <a:off x="2017640" y="6442315"/>
          <a:ext cx="9332377" cy="1341120"/>
        </p:xfrm>
        <a:graphic>
          <a:graphicData uri="http://schemas.openxmlformats.org/drawingml/2006/table">
            <a:tbl>
              <a:tblPr/>
              <a:tblGrid>
                <a:gridCol w="1277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2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Department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Model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Train MAPE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Test MAPE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Gap (pp)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Overfitting Level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FOODS_1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FINAL_XGB_GRID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32.36%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12.41%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−19.95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Low — test &lt; train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FOODS_2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FINAL_XGB_GRID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6.81%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8.77%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1.97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Low — near zero gap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FOODS_3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FINAL_XGB_GRID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153.93%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57.80%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−96.13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Low — test &lt;&lt; train</a:t>
                      </a:r>
                    </a:p>
                  </a:txBody>
                  <a:tcPr>
                    <a:lnL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096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8D24-506F-8D7A-F3F0-84760328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ECB52A-DC33-A486-4DE4-52A0F26F26BE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7. Critical Thinking – 4 Dimension Bias Audit Results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4BD8CF-6336-B7CB-604B-B10CD070ECC5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A2E5F3E-0EE7-D49B-BEE7-5D33A7D722DA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4A44852-00B9-C73F-D734-622301CA2DF9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7544271E-45C8-39FC-367D-5FC69DC3922F}"/>
              </a:ext>
            </a:extLst>
          </p:cNvPr>
          <p:cNvSpPr/>
          <p:nvPr/>
        </p:nvSpPr>
        <p:spPr>
          <a:xfrm>
            <a:off x="599180" y="1134395"/>
            <a:ext cx="13284985" cy="251643"/>
          </a:xfrm>
          <a:prstGeom prst="roundRect">
            <a:avLst>
              <a:gd name="adj" fmla="val 9728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200" i="1" dirty="0">
                <a:solidFill>
                  <a:srgbClr val="002060"/>
                </a:solidFill>
                <a:latin typeface="Instrument Sans Medium" pitchFamily="34" charset="0"/>
              </a:rPr>
              <a:t>Bias check across 4 dimensions — any group exceeding 5pp MPE gap vs overall is flagged for planner intervention: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EC5617-7BBC-6B2B-A62C-7343FA2F365D}"/>
              </a:ext>
            </a:extLst>
          </p:cNvPr>
          <p:cNvSpPr/>
          <p:nvPr/>
        </p:nvSpPr>
        <p:spPr>
          <a:xfrm>
            <a:off x="722376" y="1447734"/>
            <a:ext cx="3985207" cy="338983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</a:rPr>
              <a:t>Section 3.1 — Event Day vs Normal Day</a:t>
            </a: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240808F2-E049-51F5-408E-9D34901FEFD2}"/>
              </a:ext>
            </a:extLst>
          </p:cNvPr>
          <p:cNvSpPr/>
          <p:nvPr/>
        </p:nvSpPr>
        <p:spPr>
          <a:xfrm>
            <a:off x="1192584" y="7200078"/>
            <a:ext cx="12245231" cy="522146"/>
          </a:xfrm>
          <a:prstGeom prst="roundRect">
            <a:avLst>
              <a:gd name="adj" fmla="val 9728"/>
            </a:avLst>
          </a:prstGeom>
          <a:solidFill>
            <a:srgbClr val="DED5FE"/>
          </a:solidFill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sz="1400" b="1" dirty="0">
                <a:solidFill>
                  <a:srgbClr val="002060"/>
                </a:solidFill>
                <a:latin typeface="Instrument Sans Medium" pitchFamily="34" charset="0"/>
              </a:rPr>
              <a:t>Critical findings: </a:t>
            </a:r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</a:rPr>
              <a:t>FOODS_3 event day MAPE=673% · FOODS_3 Friday MAPE=363% · FOODS_1 Saturday MPE=+8.13% · FOODS_2 SNAP days more accurate than non-SNAP — no equity concern confirmed.</a:t>
            </a:r>
          </a:p>
          <a:p>
            <a:endParaRPr lang="en-US" sz="1400" dirty="0">
              <a:solidFill>
                <a:srgbClr val="002060"/>
              </a:solidFill>
              <a:latin typeface="Instrument Sans Medium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EAEFEE6-5CC2-A4C4-3108-A522EF582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42214"/>
            <a:ext cx="6592824" cy="2413424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D902C884-ABC3-FE3D-1997-D31F5D266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156" y="1742214"/>
            <a:ext cx="6592824" cy="2413424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1FE2B0A1-4465-20F1-D8C0-CD0B05A241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672712"/>
            <a:ext cx="6592824" cy="2413424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CCF7C3AE-BB24-F234-374B-C21C1036D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3156" y="4672711"/>
            <a:ext cx="6592824" cy="2413424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A5A780-5E5A-1C37-8645-785E616557A1}"/>
              </a:ext>
            </a:extLst>
          </p:cNvPr>
          <p:cNvSpPr/>
          <p:nvPr/>
        </p:nvSpPr>
        <p:spPr>
          <a:xfrm>
            <a:off x="7573156" y="1447733"/>
            <a:ext cx="3985207" cy="338983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</a:rPr>
              <a:t>Section 3.2 — SNAP Day vs Non-SNAP Day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81D774-1DB5-46E4-9A3B-83BA03D81957}"/>
              </a:ext>
            </a:extLst>
          </p:cNvPr>
          <p:cNvSpPr/>
          <p:nvPr/>
        </p:nvSpPr>
        <p:spPr>
          <a:xfrm>
            <a:off x="599180" y="4348183"/>
            <a:ext cx="3985207" cy="338983"/>
          </a:xfrm>
          <a:prstGeom prst="roundRect">
            <a:avLst>
              <a:gd name="adj" fmla="val 12651"/>
            </a:avLst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</a:rPr>
              <a:t>Section 3.3 — Day of Week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C65C87-38D9-EB20-0514-D7BB583D8627}"/>
              </a:ext>
            </a:extLst>
          </p:cNvPr>
          <p:cNvSpPr txBox="1"/>
          <p:nvPr/>
        </p:nvSpPr>
        <p:spPr>
          <a:xfrm>
            <a:off x="7315200" y="4348183"/>
            <a:ext cx="8065970" cy="33855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defPPr>
              <a:defRPr lang="en-US"/>
            </a:defPPr>
            <a:lvl1pPr>
              <a:defRPr sz="16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Section 3.4 — Demand Quartile Analysis</a:t>
            </a:r>
          </a:p>
        </p:txBody>
      </p:sp>
    </p:spTree>
    <p:extLst>
      <p:ext uri="{BB962C8B-B14F-4D97-AF65-F5344CB8AC3E}">
        <p14:creationId xmlns:p14="http://schemas.microsoft.com/office/powerpoint/2010/main" val="95609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A96E-84DA-49F3-CE2E-3E3C64F2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E35A71-3F53-B5C6-BF5E-A021769A6274}"/>
              </a:ext>
            </a:extLst>
          </p:cNvPr>
          <p:cNvSpPr/>
          <p:nvPr/>
        </p:nvSpPr>
        <p:spPr>
          <a:xfrm>
            <a:off x="599181" y="59380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310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 Limitations &amp; Future Work</a:t>
            </a:r>
            <a:endParaRPr lang="en-US" sz="3100" b="1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91D7962-A8E5-FA8C-D5A9-015BD7176DAE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4EC08FD-E19D-49E1-46AA-1DD107E1DCBF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1AF6816-1503-4F71-9EAF-F04125C8F6DB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8BBEEB-8FF4-6946-1D1F-377E7B1E4869}"/>
              </a:ext>
            </a:extLst>
          </p:cNvPr>
          <p:cNvSpPr/>
          <p:nvPr/>
        </p:nvSpPr>
        <p:spPr>
          <a:xfrm>
            <a:off x="782060" y="1247950"/>
            <a:ext cx="6478630" cy="6079019"/>
          </a:xfrm>
          <a:prstGeom prst="roundRect">
            <a:avLst>
              <a:gd name="adj" fmla="val 5747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400" b="1" dirty="0">
                <a:solidFill>
                  <a:srgbClr val="002060"/>
                </a:solidFill>
              </a:rPr>
              <a:t>Known Limitations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
</a:t>
            </a:r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Error compounding -  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Recursive 28-day – Day1  forecast most reliable; each step add uncertainty.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Price/SNAP carry-forward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Future values assumed unchanged – manual overlay needed.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FOODS_3 MAPE 57.80%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- Genuine demand volatility – all FOODS_3 needs planner review.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No future event knowledge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Confirmed events must be manually overlaid before release.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CA_3 FOODS scope only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Do not apply to other stores without full retraining.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Dept-level output only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SKU disaggregation required before order quantities.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PCA not applied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Deliberate – preserves interpretability for demand planning.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3641E52-6740-DDB0-28B6-45CE5DFE0559}"/>
              </a:ext>
            </a:extLst>
          </p:cNvPr>
          <p:cNvSpPr/>
          <p:nvPr/>
        </p:nvSpPr>
        <p:spPr>
          <a:xfrm>
            <a:off x="7478001" y="1247949"/>
            <a:ext cx="6478630" cy="6079019"/>
          </a:xfrm>
          <a:prstGeom prst="roundRect">
            <a:avLst>
              <a:gd name="adj" fmla="val 5747"/>
            </a:avLst>
          </a:prstGeom>
          <a:solidFill>
            <a:srgbClr val="DED5FE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400" b="1" dirty="0">
                <a:solidFill>
                  <a:srgbClr val="002060"/>
                </a:solidFill>
              </a:rPr>
              <a:t>Future Work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
</a:t>
            </a:r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SKU Disaggregation Model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Top-down using 3-6 months rolling daily contribution % per item.</a:t>
            </a:r>
          </a:p>
          <a:p>
            <a:endParaRPr lang="en-US" sz="1600" b="1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Weekly Modeling Refitting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Refit weekly with latest actuals to prevent error drift.</a:t>
            </a:r>
          </a:p>
          <a:p>
            <a:endParaRPr lang="en-US" sz="1600" b="1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Event Override Rule Library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Pre-tuned uplift factors per confirmed event type.</a:t>
            </a:r>
          </a:p>
          <a:p>
            <a:endParaRPr lang="en-US" sz="1600" b="1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LightGBM Stage 2 Comparison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Formal LGB vs XGB with wider hyperparameter grid.</a:t>
            </a:r>
          </a:p>
          <a:p>
            <a:endParaRPr lang="en-US" sz="1600" b="1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SNAP Interaction Expansion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Test SNAP x day_of_week and SNAP x event day signals</a:t>
            </a:r>
          </a:p>
          <a:p>
            <a:endParaRPr lang="en-US" sz="1600" b="1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Extend to all CA Stores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Cross-store training to leverage shared demand patterns.</a:t>
            </a:r>
          </a:p>
          <a:p>
            <a:endParaRPr lang="en-US" sz="1600" b="1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Flask API Development 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– Serve .</a:t>
            </a:r>
            <a:r>
              <a:rPr lang="en-US" sz="1600" dirty="0" err="1">
                <a:solidFill>
                  <a:srgbClr val="002060"/>
                </a:solidFill>
                <a:latin typeface="Instrument Sans Medium" pitchFamily="34" charset="0"/>
              </a:rPr>
              <a:t>pkl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 models via REST for live operational forecasting.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071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F452-8883-6578-B2BA-300B7AEE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ECEC27-3669-1693-46FD-AEAA30152B63}"/>
              </a:ext>
            </a:extLst>
          </p:cNvPr>
          <p:cNvSpPr/>
          <p:nvPr/>
        </p:nvSpPr>
        <p:spPr>
          <a:xfrm>
            <a:off x="599181" y="59380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4000" b="1" u="sng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Takeaways</a:t>
            </a:r>
            <a:endParaRPr lang="en-US" sz="4000" b="1" u="sng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FDE0CF1-7260-AD99-6E59-890E3AD3CAC2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7F0E7F-E531-DFD0-DA67-F29B8A52940B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6D1E383-A991-F673-60DF-3547A23CCB2A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54D3C0-7A7B-E502-7F49-CB0EC88B99C0}"/>
              </a:ext>
            </a:extLst>
          </p:cNvPr>
          <p:cNvSpPr/>
          <p:nvPr/>
        </p:nvSpPr>
        <p:spPr>
          <a:xfrm>
            <a:off x="627513" y="1481959"/>
            <a:ext cx="13375374" cy="956442"/>
          </a:xfrm>
          <a:prstGeom prst="roundRect">
            <a:avLst>
              <a:gd name="adj" fmla="val 5747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XGBoost won across all departments</a:t>
            </a:r>
          </a:p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Feature-rich ML consistently outperformed 14 other candidates including SARIMA, ARIMA, Random Forest, and LightGBM on all three departments.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5108E6-FAD7-5F6A-8A54-C860BB5D44E3}"/>
              </a:ext>
            </a:extLst>
          </p:cNvPr>
          <p:cNvSpPr/>
          <p:nvPr/>
        </p:nvSpPr>
        <p:spPr>
          <a:xfrm>
            <a:off x="627513" y="2599856"/>
            <a:ext cx="13375374" cy="956442"/>
          </a:xfrm>
          <a:prstGeom prst="roundRect">
            <a:avLst>
              <a:gd name="adj" fmla="val 5747"/>
            </a:avLst>
          </a:prstGeom>
          <a:solidFill>
            <a:srgbClr val="DED5FE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CV-based feature selection is critical </a:t>
            </a:r>
          </a:p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TimeSeriesSplit 5-fold found optimal counts (10–15) that generalized better than using all 45+ non-zero importance features.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B9ADE7-233E-81E0-4BEF-77E71B40914B}"/>
              </a:ext>
            </a:extLst>
          </p:cNvPr>
          <p:cNvSpPr/>
          <p:nvPr/>
        </p:nvSpPr>
        <p:spPr>
          <a:xfrm>
            <a:off x="627513" y="3717753"/>
            <a:ext cx="13375374" cy="956442"/>
          </a:xfrm>
          <a:prstGeom prst="roundRect">
            <a:avLst>
              <a:gd name="adj" fmla="val 5747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SHAP+ PDP make the model operationally auditable</a:t>
            </a:r>
          </a:p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Every prediction can be decomposed to individual feature contributions in units of sales qty — planners can verify model behavior.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0F9371-17E3-BAB9-772C-C1BAA9D9AAB7}"/>
              </a:ext>
            </a:extLst>
          </p:cNvPr>
          <p:cNvSpPr/>
          <p:nvPr/>
        </p:nvSpPr>
        <p:spPr>
          <a:xfrm>
            <a:off x="627513" y="4835650"/>
            <a:ext cx="13375374" cy="956442"/>
          </a:xfrm>
          <a:prstGeom prst="roundRect">
            <a:avLst>
              <a:gd name="adj" fmla="val 5747"/>
            </a:avLst>
          </a:prstGeom>
          <a:solidFill>
            <a:srgbClr val="DED5FE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</a:rPr>
              <a:t>4-dimension bias audit revealed critical gaps invisible to overall MAPE</a:t>
            </a:r>
          </a:p>
          <a:p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</a:rPr>
              <a:t>FOODS_3 event day 673% and Friday 363% MAPE – these patterns would be completely hidden by looking at overall test MAPE.</a:t>
            </a:r>
          </a:p>
        </p:txBody>
      </p:sp>
    </p:spTree>
    <p:extLst>
      <p:ext uri="{BB962C8B-B14F-4D97-AF65-F5344CB8AC3E}">
        <p14:creationId xmlns:p14="http://schemas.microsoft.com/office/powerpoint/2010/main" val="262234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Words>3503</Words>
  <Application>Microsoft Macintosh PowerPoint</Application>
  <PresentationFormat>Custom</PresentationFormat>
  <Paragraphs>710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Instrument Sans Medium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Julius Marasigan</cp:lastModifiedBy>
  <cp:revision>24</cp:revision>
  <dcterms:created xsi:type="dcterms:W3CDTF">2026-04-12T18:25:30Z</dcterms:created>
  <dcterms:modified xsi:type="dcterms:W3CDTF">2026-04-13T01:19:10Z</dcterms:modified>
</cp:coreProperties>
</file>